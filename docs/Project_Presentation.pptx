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04" r:id="rId1"/>
  </p:sldMasterIdLst>
  <p:sldIdLst>
    <p:sldId id="256" r:id="rId2"/>
    <p:sldId id="263" r:id="rId3"/>
    <p:sldId id="257" r:id="rId4"/>
    <p:sldId id="264" r:id="rId5"/>
    <p:sldId id="282" r:id="rId6"/>
    <p:sldId id="284" r:id="rId7"/>
    <p:sldId id="265" r:id="rId8"/>
    <p:sldId id="266" r:id="rId9"/>
    <p:sldId id="258" r:id="rId10"/>
    <p:sldId id="259" r:id="rId11"/>
    <p:sldId id="285" r:id="rId12"/>
    <p:sldId id="281" r:id="rId13"/>
    <p:sldId id="274" r:id="rId14"/>
    <p:sldId id="275" r:id="rId15"/>
    <p:sldId id="276" r:id="rId16"/>
    <p:sldId id="277" r:id="rId17"/>
    <p:sldId id="279" r:id="rId18"/>
    <p:sldId id="280" r:id="rId19"/>
    <p:sldId id="269" r:id="rId20"/>
    <p:sldId id="270" r:id="rId21"/>
    <p:sldId id="271" r:id="rId22"/>
    <p:sldId id="286" r:id="rId23"/>
    <p:sldId id="272" r:id="rId24"/>
    <p:sldId id="261" r:id="rId25"/>
    <p:sldId id="262"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4660"/>
  </p:normalViewPr>
  <p:slideViewPr>
    <p:cSldViewPr snapToGrid="0" snapToObjects="1">
      <p:cViewPr varScale="1">
        <p:scale>
          <a:sx n="92" d="100"/>
          <a:sy n="92" d="100"/>
        </p:scale>
        <p:origin x="965" y="8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28020" y="1769541"/>
            <a:ext cx="7080026"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028020" y="3598339"/>
            <a:ext cx="7080026"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761735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57283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71551" y="1761068"/>
            <a:ext cx="7192913"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971551" y="3589879"/>
            <a:ext cx="7192913"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68743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347" y="1732449"/>
            <a:ext cx="3795373"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2169" y="1732450"/>
            <a:ext cx="3798499"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4/10/2025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495032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345" y="1770323"/>
            <a:ext cx="3787423" cy="4112953"/>
          </a:xfrm>
          <a:prstGeom prst="rect">
            <a:avLst/>
          </a:prstGeom>
        </p:spPr>
      </p:pic>
      <p:pic>
        <p:nvPicPr>
          <p:cNvPr id="14" name="Picture 13"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245" y="1770323"/>
            <a:ext cx="3787423" cy="4112953"/>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754404" y="1835254"/>
            <a:ext cx="3657258"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54404" y="2380138"/>
            <a:ext cx="3657258"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21225" y="1835255"/>
            <a:ext cx="3671498"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21225" y="2380138"/>
            <a:ext cx="3671498"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294587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4/10/2025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28810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4754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0"/>
            <a:ext cx="2780167"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641725" y="609600"/>
            <a:ext cx="4808943"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347" y="2431518"/>
            <a:ext cx="2780167"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764979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2" name="Picture 11" descr="Slate-V2-S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4987" y="609923"/>
            <a:ext cx="3428146" cy="5205472"/>
          </a:xfrm>
          <a:prstGeom prst="rect">
            <a:avLst/>
          </a:prstGeom>
        </p:spPr>
      </p:pic>
      <p:sp>
        <p:nvSpPr>
          <p:cNvPr id="2" name="Title 1"/>
          <p:cNvSpPr>
            <a:spLocks noGrp="1"/>
          </p:cNvSpPr>
          <p:nvPr>
            <p:ph type="title"/>
          </p:nvPr>
        </p:nvSpPr>
        <p:spPr>
          <a:xfrm>
            <a:off x="685347" y="609923"/>
            <a:ext cx="3924676"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976728" y="743989"/>
            <a:ext cx="3165375"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347" y="2439261"/>
            <a:ext cx="3924676"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416453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Slate-V2-S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995" y="540085"/>
            <a:ext cx="7656010" cy="3834374"/>
          </a:xfrm>
          <a:prstGeom prst="rect">
            <a:avLst/>
          </a:prstGeom>
        </p:spPr>
      </p:pic>
      <p:sp>
        <p:nvSpPr>
          <p:cNvPr id="2" name="Title 1"/>
          <p:cNvSpPr>
            <a:spLocks noGrp="1"/>
          </p:cNvSpPr>
          <p:nvPr>
            <p:ph type="title"/>
          </p:nvPr>
        </p:nvSpPr>
        <p:spPr>
          <a:xfrm>
            <a:off x="685354" y="4565255"/>
            <a:ext cx="7766495"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26217" y="695010"/>
            <a:ext cx="7285600"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5108728"/>
            <a:ext cx="776532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58081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6" y="608437"/>
            <a:ext cx="776532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46" y="4295180"/>
            <a:ext cx="7765322"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359613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610033"/>
            <a:ext cx="6564224"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346" y="4304353"/>
            <a:ext cx="7765322"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11" name="TextBox 10"/>
          <p:cNvSpPr txBox="1"/>
          <p:nvPr/>
        </p:nvSpPr>
        <p:spPr>
          <a:xfrm>
            <a:off x="627459" y="873912"/>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7828359" y="2933245"/>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5156323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346" y="2126943"/>
            <a:ext cx="7765322"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9" y="4650556"/>
            <a:ext cx="776414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737807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346" y="609600"/>
            <a:ext cx="776532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46"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346"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35033"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31076"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74929"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74929"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4/10/2025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685530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6" name="Picture 5"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239" y="1826045"/>
            <a:ext cx="2529046" cy="1833558"/>
          </a:xfrm>
          <a:prstGeom prst="rect">
            <a:avLst/>
          </a:prstGeom>
        </p:spPr>
      </p:pic>
      <p:pic>
        <p:nvPicPr>
          <p:cNvPr id="28" name="Picture 27"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3813" y="1826045"/>
            <a:ext cx="2529046" cy="1833558"/>
          </a:xfrm>
          <a:prstGeom prst="rect">
            <a:avLst/>
          </a:prstGeom>
        </p:spPr>
      </p:pic>
      <p:pic>
        <p:nvPicPr>
          <p:cNvPr id="29" name="Picture 28"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1715" y="1826045"/>
            <a:ext cx="2529046" cy="1833558"/>
          </a:xfrm>
          <a:prstGeom prst="rect">
            <a:avLst/>
          </a:prstGeom>
        </p:spPr>
      </p:pic>
      <p:sp>
        <p:nvSpPr>
          <p:cNvPr id="30" name="Title 1"/>
          <p:cNvSpPr>
            <a:spLocks noGrp="1"/>
          </p:cNvSpPr>
          <p:nvPr>
            <p:ph type="title"/>
          </p:nvPr>
        </p:nvSpPr>
        <p:spPr>
          <a:xfrm>
            <a:off x="685346" y="609600"/>
            <a:ext cx="7765322"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46"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763577" y="1938918"/>
            <a:ext cx="2319276"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5346" y="4480369"/>
            <a:ext cx="2475738"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32091"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409307" y="1939094"/>
            <a:ext cx="2319276"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331075" y="4480368"/>
            <a:ext cx="2476753"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75023"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6056774" y="1934432"/>
            <a:ext cx="2319276"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74929" y="4480366"/>
            <a:ext cx="2475738"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4/10/2025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427735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535928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37302" y="609600"/>
            <a:ext cx="1713365"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85347" y="609600"/>
            <a:ext cx="5937654"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290960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346" y="609600"/>
            <a:ext cx="776532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46" y="1732450"/>
            <a:ext cx="776532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2" y="5883276"/>
            <a:ext cx="20574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5BCAD085-E8A6-8845-BD4E-CB4CCA059FC4}" type="datetimeFigureOut">
              <a:rPr lang="en-US" smtClean="0"/>
              <a:t>4/10/2025</a:t>
            </a:fld>
            <a:endParaRPr lang="en-US"/>
          </a:p>
        </p:txBody>
      </p:sp>
      <p:sp>
        <p:nvSpPr>
          <p:cNvPr id="5" name="Footer Placeholder 4"/>
          <p:cNvSpPr>
            <a:spLocks noGrp="1"/>
          </p:cNvSpPr>
          <p:nvPr>
            <p:ph type="ftr" sz="quarter" idx="3"/>
          </p:nvPr>
        </p:nvSpPr>
        <p:spPr>
          <a:xfrm>
            <a:off x="685347" y="5883276"/>
            <a:ext cx="5004649"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7885509" y="5883276"/>
            <a:ext cx="565159"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58423743"/>
      </p:ext>
    </p:extLst>
  </p:cSld>
  <p:clrMap bg1="dk1" tx1="lt1" bg2="dk2" tx2="lt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 id="2147483817" r:id="rId13"/>
    <p:sldLayoutId id="2147483818" r:id="rId14"/>
    <p:sldLayoutId id="2147483819" r:id="rId15"/>
    <p:sldLayoutId id="2147483820" r:id="rId16"/>
    <p:sldLayoutId id="2147483821"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2.xml"/><Relationship Id="rId4" Type="http://schemas.openxmlformats.org/officeDocument/2006/relationships/image" Target="../media/image15.jpg"/></Relationships>
</file>

<file path=ppt/slides/_rels/slide1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www.tinkercad.com/things/7DThyDZRo9N-copy-of-amazing-fulffy/edit?returnTo=https%3A%2F%2Fwww.tinkercad.com%2Fdashboard"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65584" y="1946484"/>
            <a:ext cx="7660178" cy="1255220"/>
          </a:xfrm>
        </p:spPr>
        <p:txBody>
          <a:bodyPr>
            <a:noAutofit/>
          </a:bodyPr>
          <a:lstStyle/>
          <a:p>
            <a:r>
              <a:rPr lang="en-US" sz="2900" dirty="0">
                <a:solidFill>
                  <a:schemeClr val="accent1">
                    <a:lumMod val="60000"/>
                    <a:lumOff val="40000"/>
                  </a:schemeClr>
                </a:solidFill>
              </a:rPr>
              <a:t>“Automated Smart Waste Segregation System with Live Monitoring and Intelligent Bin Alerts"</a:t>
            </a:r>
          </a:p>
        </p:txBody>
      </p:sp>
      <p:sp>
        <p:nvSpPr>
          <p:cNvPr id="3" name="Subtitle 2"/>
          <p:cNvSpPr>
            <a:spLocks noGrp="1"/>
          </p:cNvSpPr>
          <p:nvPr>
            <p:ph type="subTitle" idx="1"/>
          </p:nvPr>
        </p:nvSpPr>
        <p:spPr>
          <a:xfrm>
            <a:off x="1495273" y="3308465"/>
            <a:ext cx="6400800" cy="2944011"/>
          </a:xfrm>
        </p:spPr>
        <p:txBody>
          <a:bodyPr>
            <a:normAutofit fontScale="85000" lnSpcReduction="20000"/>
          </a:bodyPr>
          <a:lstStyle/>
          <a:p>
            <a:r>
              <a:rPr lang="en-IN" dirty="0">
                <a:solidFill>
                  <a:schemeClr val="accent1">
                    <a:lumMod val="40000"/>
                    <a:lumOff val="60000"/>
                  </a:schemeClr>
                </a:solidFill>
              </a:rPr>
              <a:t>Presented By:</a:t>
            </a:r>
          </a:p>
          <a:p>
            <a:r>
              <a:rPr lang="en-IN" sz="1600" dirty="0"/>
              <a:t>D. Siddu Maheswara rao      21MH1A04E1, </a:t>
            </a:r>
          </a:p>
          <a:p>
            <a:r>
              <a:rPr lang="en-IN" sz="1600" dirty="0"/>
              <a:t>J. S. S. D. Veerendra             21MH1A0425,</a:t>
            </a:r>
          </a:p>
          <a:p>
            <a:r>
              <a:rPr lang="en-IN" sz="1600" dirty="0"/>
              <a:t>K. S. V. Vasu                         21MH1A0430,</a:t>
            </a:r>
          </a:p>
          <a:p>
            <a:r>
              <a:rPr lang="en-IN" sz="1600" dirty="0"/>
              <a:t>P. Satya Krishna                    21MH1A0453</a:t>
            </a:r>
          </a:p>
          <a:p>
            <a:r>
              <a:rPr lang="en-IN" dirty="0">
                <a:solidFill>
                  <a:schemeClr val="accent1">
                    <a:lumMod val="40000"/>
                    <a:lumOff val="60000"/>
                  </a:schemeClr>
                </a:solidFill>
              </a:rPr>
              <a:t>Under the guidance of:</a:t>
            </a:r>
            <a:r>
              <a:rPr lang="en-IN" dirty="0"/>
              <a:t> </a:t>
            </a:r>
          </a:p>
          <a:p>
            <a:r>
              <a:rPr lang="en-IN" dirty="0"/>
              <a:t>P. Ramesh </a:t>
            </a:r>
            <a:r>
              <a:rPr lang="en-IN" sz="1200" dirty="0"/>
              <a:t>M.Tech., (Ph.D.)</a:t>
            </a:r>
          </a:p>
          <a:p>
            <a:r>
              <a:rPr lang="en-IN" sz="1800" dirty="0"/>
              <a:t>Assistant Professor</a:t>
            </a:r>
          </a:p>
          <a:p>
            <a:r>
              <a:rPr lang="en-IN" sz="1800" dirty="0"/>
              <a:t>Department of ECE</a:t>
            </a:r>
          </a:p>
          <a:p>
            <a:endParaRPr lang="en-IN" dirty="0"/>
          </a:p>
        </p:txBody>
      </p:sp>
      <p:sp>
        <p:nvSpPr>
          <p:cNvPr id="4" name="TextBox 3">
            <a:extLst>
              <a:ext uri="{FF2B5EF4-FFF2-40B4-BE49-F238E27FC236}">
                <a16:creationId xmlns:a16="http://schemas.microsoft.com/office/drawing/2014/main" id="{EAD47E7D-85B0-DC78-069D-EA4B0FE7291E}"/>
              </a:ext>
            </a:extLst>
          </p:cNvPr>
          <p:cNvSpPr txBox="1"/>
          <p:nvPr/>
        </p:nvSpPr>
        <p:spPr>
          <a:xfrm>
            <a:off x="743989" y="698269"/>
            <a:ext cx="7992686" cy="400110"/>
          </a:xfrm>
          <a:prstGeom prst="rect">
            <a:avLst/>
          </a:prstGeom>
          <a:noFill/>
        </p:spPr>
        <p:txBody>
          <a:bodyPr wrap="square" rtlCol="0">
            <a:spAutoFit/>
          </a:bodyPr>
          <a:lstStyle/>
          <a:p>
            <a:r>
              <a:rPr lang="en-US" sz="2000" b="1" dirty="0">
                <a:solidFill>
                  <a:srgbClr val="FF0000"/>
                </a:solidFill>
                <a:latin typeface="Times New Roman Bold" panose="02020603050405020304" charset="0"/>
                <a:cs typeface="Times New Roman Bold" panose="02020603050405020304" charset="0"/>
                <a:sym typeface="+mn-ea"/>
              </a:rPr>
              <a:t>ADITYA COLLEGE OF ENGINEERING AND TECHNOLOGY(A)</a:t>
            </a:r>
          </a:p>
        </p:txBody>
      </p:sp>
      <p:sp>
        <p:nvSpPr>
          <p:cNvPr id="5" name="TextBox 4">
            <a:extLst>
              <a:ext uri="{FF2B5EF4-FFF2-40B4-BE49-F238E27FC236}">
                <a16:creationId xmlns:a16="http://schemas.microsoft.com/office/drawing/2014/main" id="{769CC86A-1E03-FC61-0798-FE8844E33B94}"/>
              </a:ext>
            </a:extLst>
          </p:cNvPr>
          <p:cNvSpPr txBox="1"/>
          <p:nvPr/>
        </p:nvSpPr>
        <p:spPr>
          <a:xfrm>
            <a:off x="3310421" y="1221971"/>
            <a:ext cx="2340449" cy="707886"/>
          </a:xfrm>
          <a:prstGeom prst="rect">
            <a:avLst/>
          </a:prstGeom>
          <a:noFill/>
        </p:spPr>
        <p:txBody>
          <a:bodyPr wrap="none" rtlCol="0">
            <a:spAutoFit/>
          </a:bodyPr>
          <a:lstStyle/>
          <a:p>
            <a:r>
              <a:rPr lang="en-US" sz="2000" dirty="0"/>
              <a:t>      Project  Review </a:t>
            </a:r>
          </a:p>
          <a:p>
            <a:pPr algn="ctr"/>
            <a:r>
              <a:rPr lang="en-US" sz="2000" dirty="0"/>
              <a:t>   on</a:t>
            </a:r>
            <a:endParaRPr lang="en-IN"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B15C3-8C4B-E15D-D85C-B3A211FE70DC}"/>
              </a:ext>
            </a:extLst>
          </p:cNvPr>
          <p:cNvSpPr>
            <a:spLocks noGrp="1"/>
          </p:cNvSpPr>
          <p:nvPr>
            <p:ph type="title"/>
          </p:nvPr>
        </p:nvSpPr>
        <p:spPr/>
        <p:txBody>
          <a:bodyPr/>
          <a:lstStyle/>
          <a:p>
            <a:r>
              <a:rPr lang="en-US" dirty="0">
                <a:solidFill>
                  <a:schemeClr val="accent1">
                    <a:lumMod val="60000"/>
                    <a:lumOff val="40000"/>
                  </a:schemeClr>
                </a:solidFill>
              </a:rPr>
              <a:t>Introduction </a:t>
            </a:r>
            <a:endParaRPr lang="en-IN" dirty="0">
              <a:solidFill>
                <a:schemeClr val="accent1">
                  <a:lumMod val="60000"/>
                  <a:lumOff val="40000"/>
                </a:schemeClr>
              </a:solidFill>
            </a:endParaRPr>
          </a:p>
        </p:txBody>
      </p:sp>
      <p:sp>
        <p:nvSpPr>
          <p:cNvPr id="3" name="Content Placeholder 2">
            <a:extLst>
              <a:ext uri="{FF2B5EF4-FFF2-40B4-BE49-F238E27FC236}">
                <a16:creationId xmlns:a16="http://schemas.microsoft.com/office/drawing/2014/main" id="{4400E2B4-3F8B-40C7-D44C-328BB82F09DB}"/>
              </a:ext>
            </a:extLst>
          </p:cNvPr>
          <p:cNvSpPr>
            <a:spLocks noGrp="1"/>
          </p:cNvSpPr>
          <p:nvPr>
            <p:ph idx="1"/>
          </p:nvPr>
        </p:nvSpPr>
        <p:spPr/>
        <p:txBody>
          <a:bodyPr>
            <a:noAutofit/>
          </a:bodyPr>
          <a:lstStyle/>
          <a:p>
            <a:pPr algn="just"/>
            <a:r>
              <a:rPr lang="en-US" sz="1800" dirty="0"/>
              <a:t>Waste management is a crucial aspect of environmental sustainability, yet traditional waste segregation methods are inefficient, labor-intensive, and error-prone. Improper waste disposal leads to increased pollution, inefficient recycling, and adverse health impacts.</a:t>
            </a:r>
          </a:p>
          <a:p>
            <a:pPr algn="just"/>
            <a:r>
              <a:rPr lang="en-US" sz="1800" dirty="0"/>
              <a:t>Our Smart Waste Segregation System leverages automation, IoT, and sensor-based detection to streamline the process. By integrating real-time monitoring, automated classification, and minimal human intervention, this system enhances waste segregation efficiency and contributes to a cleaner environment.</a:t>
            </a:r>
          </a:p>
          <a:p>
            <a:pPr marL="36900" indent="0">
              <a:lnSpc>
                <a:spcPct val="160000"/>
              </a:lnSpc>
              <a:buNone/>
            </a:pPr>
            <a:endParaRPr lang="en-IN" sz="1800" dirty="0"/>
          </a:p>
        </p:txBody>
      </p:sp>
    </p:spTree>
    <p:extLst>
      <p:ext uri="{BB962C8B-B14F-4D97-AF65-F5344CB8AC3E}">
        <p14:creationId xmlns:p14="http://schemas.microsoft.com/office/powerpoint/2010/main" val="3745693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chemeClr val="accent1">
                    <a:lumMod val="60000"/>
                    <a:lumOff val="40000"/>
                  </a:schemeClr>
                </a:solidFill>
              </a:rPr>
              <a:t>Abstract</a:t>
            </a:r>
          </a:p>
        </p:txBody>
      </p:sp>
      <p:sp>
        <p:nvSpPr>
          <p:cNvPr id="3" name="Content Placeholder 2"/>
          <p:cNvSpPr>
            <a:spLocks noGrp="1"/>
          </p:cNvSpPr>
          <p:nvPr>
            <p:ph idx="1"/>
          </p:nvPr>
        </p:nvSpPr>
        <p:spPr/>
        <p:txBody>
          <a:bodyPr>
            <a:normAutofit/>
          </a:bodyPr>
          <a:lstStyle/>
          <a:p>
            <a:r>
              <a:rPr lang="en-US" sz="2400" dirty="0"/>
              <a:t>The system automates waste segregation to streamline waste management.</a:t>
            </a:r>
          </a:p>
          <a:p>
            <a:r>
              <a:rPr lang="en-US" sz="2400" dirty="0"/>
              <a:t>Combines multiple sensors and microcontroller for precise sorting.</a:t>
            </a:r>
          </a:p>
          <a:p>
            <a:r>
              <a:rPr lang="en-US" sz="2400" dirty="0"/>
              <a:t>Aims to minimize human intervention and enhance environmental sustainability. </a:t>
            </a:r>
          </a:p>
          <a:p>
            <a:r>
              <a:rPr lang="en-US" sz="2400" dirty="0"/>
              <a:t>A mobile app lets users check bin status.</a:t>
            </a:r>
            <a:endParaRPr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76095-5593-528A-1BDF-70DF9BA4764D}"/>
              </a:ext>
            </a:extLst>
          </p:cNvPr>
          <p:cNvSpPr>
            <a:spLocks noGrp="1"/>
          </p:cNvSpPr>
          <p:nvPr>
            <p:ph type="title"/>
          </p:nvPr>
        </p:nvSpPr>
        <p:spPr/>
        <p:txBody>
          <a:bodyPr/>
          <a:lstStyle/>
          <a:p>
            <a:r>
              <a:rPr lang="en-IN" dirty="0">
                <a:solidFill>
                  <a:schemeClr val="accent1">
                    <a:lumMod val="60000"/>
                    <a:lumOff val="40000"/>
                  </a:schemeClr>
                </a:solidFill>
              </a:rPr>
              <a:t>Literature Review</a:t>
            </a:r>
          </a:p>
        </p:txBody>
      </p:sp>
      <p:sp>
        <p:nvSpPr>
          <p:cNvPr id="3" name="Content Placeholder 2">
            <a:extLst>
              <a:ext uri="{FF2B5EF4-FFF2-40B4-BE49-F238E27FC236}">
                <a16:creationId xmlns:a16="http://schemas.microsoft.com/office/drawing/2014/main" id="{EB7E2B08-BF1E-5E1A-51B4-4E6B673C0C6B}"/>
              </a:ext>
            </a:extLst>
          </p:cNvPr>
          <p:cNvSpPr>
            <a:spLocks noGrp="1"/>
          </p:cNvSpPr>
          <p:nvPr>
            <p:ph idx="1"/>
          </p:nvPr>
        </p:nvSpPr>
        <p:spPr/>
        <p:txBody>
          <a:bodyPr>
            <a:normAutofit fontScale="85000" lnSpcReduction="20000"/>
          </a:bodyPr>
          <a:lstStyle/>
          <a:p>
            <a:pPr>
              <a:lnSpc>
                <a:spcPct val="150000"/>
              </a:lnSpc>
            </a:pPr>
            <a:r>
              <a:rPr lang="en-US" sz="1800" b="1" dirty="0"/>
              <a:t>Waste Management System using Waste Classification on Mobile Application(2024)</a:t>
            </a:r>
          </a:p>
          <a:p>
            <a:pPr marL="36900" indent="0">
              <a:lnSpc>
                <a:spcPct val="150000"/>
              </a:lnSpc>
              <a:buNone/>
            </a:pPr>
            <a:r>
              <a:rPr lang="en-US" sz="1800" b="1" dirty="0"/>
              <a:t>	Authors: </a:t>
            </a:r>
            <a:r>
              <a:rPr lang="en-US" sz="1800" dirty="0"/>
              <a:t>Mujalin Polchan; Ampai Pukao; Tapana Cheunban; Somnuek Sinthupuan</a:t>
            </a:r>
            <a:br>
              <a:rPr lang="en-US" sz="1800" dirty="0"/>
            </a:br>
            <a:r>
              <a:rPr lang="en-US" sz="1800" dirty="0"/>
              <a:t>	• </a:t>
            </a:r>
            <a:r>
              <a:rPr lang="en-US" sz="1600" dirty="0"/>
              <a:t>The study classified waste into four bins—blue (general), yellow (recyclables), green (wet), 	and red (hazardous)—for efficient segregation. A mobile app was developed to inspect and 	analyze waste distribution, showing wet waste was the highest, followed by general, 	recyclables, and hazardous waste. </a:t>
            </a:r>
          </a:p>
          <a:p>
            <a:pPr>
              <a:lnSpc>
                <a:spcPct val="150000"/>
              </a:lnSpc>
            </a:pPr>
            <a:r>
              <a:rPr lang="en-US" sz="1600" b="1" dirty="0"/>
              <a:t>Smart Garbage Segregation &amp; Handling System Using IoT (2023)</a:t>
            </a:r>
          </a:p>
          <a:p>
            <a:pPr marL="36900" indent="0">
              <a:lnSpc>
                <a:spcPct val="150000"/>
              </a:lnSpc>
              <a:buNone/>
            </a:pPr>
            <a:r>
              <a:rPr lang="en-US" sz="1600" b="1" dirty="0"/>
              <a:t>	Authors</a:t>
            </a:r>
            <a:r>
              <a:rPr lang="en-US" sz="1600" dirty="0"/>
              <a:t>: </a:t>
            </a:r>
            <a:r>
              <a:rPr lang="en-IN" sz="1400" dirty="0"/>
              <a:t>Chaitali Bhangale, Sinh Viralkumar Ganesh, Punetkar Ronak Vijaybhai, Patel Ronak Shaileshbhai</a:t>
            </a:r>
            <a:br>
              <a:rPr lang="en-US" sz="1600" dirty="0"/>
            </a:br>
            <a:r>
              <a:rPr lang="en-US" sz="1600" dirty="0"/>
              <a:t>	• It provided insights into how capacitance and infrared sensors can improve waste 	segregation. Their study highlighted the importance of cloud-based monitoring for efficient 	waste collection. Based on this, I considered the integration of real-time data transmission and 	notifications in my system.</a:t>
            </a:r>
          </a:p>
        </p:txBody>
      </p:sp>
    </p:spTree>
    <p:extLst>
      <p:ext uri="{BB962C8B-B14F-4D97-AF65-F5344CB8AC3E}">
        <p14:creationId xmlns:p14="http://schemas.microsoft.com/office/powerpoint/2010/main" val="23570167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DB818-2796-8CEB-EB29-C813D725F8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80FD21-CC64-A04E-0F1B-A5B8C6930DD8}"/>
              </a:ext>
            </a:extLst>
          </p:cNvPr>
          <p:cNvSpPr>
            <a:spLocks noGrp="1"/>
          </p:cNvSpPr>
          <p:nvPr>
            <p:ph type="title"/>
          </p:nvPr>
        </p:nvSpPr>
        <p:spPr/>
        <p:txBody>
          <a:bodyPr/>
          <a:lstStyle/>
          <a:p>
            <a:r>
              <a:rPr lang="en-IN" dirty="0">
                <a:solidFill>
                  <a:schemeClr val="accent1">
                    <a:lumMod val="60000"/>
                    <a:lumOff val="40000"/>
                  </a:schemeClr>
                </a:solidFill>
              </a:rPr>
              <a:t>Literature Review</a:t>
            </a:r>
          </a:p>
        </p:txBody>
      </p:sp>
      <p:sp>
        <p:nvSpPr>
          <p:cNvPr id="3" name="Content Placeholder 2">
            <a:extLst>
              <a:ext uri="{FF2B5EF4-FFF2-40B4-BE49-F238E27FC236}">
                <a16:creationId xmlns:a16="http://schemas.microsoft.com/office/drawing/2014/main" id="{7500256E-6AA0-9F23-CC14-A703DA381F9A}"/>
              </a:ext>
            </a:extLst>
          </p:cNvPr>
          <p:cNvSpPr>
            <a:spLocks noGrp="1"/>
          </p:cNvSpPr>
          <p:nvPr>
            <p:ph idx="1"/>
          </p:nvPr>
        </p:nvSpPr>
        <p:spPr/>
        <p:txBody>
          <a:bodyPr>
            <a:normAutofit/>
          </a:bodyPr>
          <a:lstStyle/>
          <a:p>
            <a:pPr marL="36900" indent="0">
              <a:lnSpc>
                <a:spcPct val="150000"/>
              </a:lnSpc>
              <a:buNone/>
            </a:pPr>
            <a:r>
              <a:rPr lang="en-IN" sz="1600" b="1" dirty="0"/>
              <a:t>Smart Waste Segregation Dustbin(2022)</a:t>
            </a:r>
          </a:p>
          <a:p>
            <a:pPr marL="36900" indent="0">
              <a:lnSpc>
                <a:spcPct val="150000"/>
              </a:lnSpc>
              <a:buNone/>
            </a:pPr>
            <a:r>
              <a:rPr lang="en-IN" sz="1600" b="1" dirty="0"/>
              <a:t>	Authors: </a:t>
            </a:r>
            <a:r>
              <a:rPr lang="en-IN" sz="1600" dirty="0"/>
              <a:t>S. </a:t>
            </a:r>
            <a:r>
              <a:rPr lang="en-IN" sz="1600" dirty="0" err="1"/>
              <a:t>Brinthakumari</a:t>
            </a:r>
            <a:r>
              <a:rPr lang="en-IN" sz="1600" dirty="0"/>
              <a:t>, Nilima </a:t>
            </a:r>
            <a:r>
              <a:rPr lang="en-IN" sz="1600" dirty="0" err="1"/>
              <a:t>Deorukhkar</a:t>
            </a:r>
            <a:r>
              <a:rPr lang="en-IN" sz="1600" dirty="0"/>
              <a:t>, Pratik Bhat, Atharv </a:t>
            </a:r>
            <a:r>
              <a:rPr lang="en-IN" sz="1600" dirty="0" err="1"/>
              <a:t>Gharge</a:t>
            </a:r>
            <a:endParaRPr lang="en-IN" sz="1600" dirty="0"/>
          </a:p>
          <a:p>
            <a:pPr marL="36900" indent="0" algn="just">
              <a:lnSpc>
                <a:spcPct val="150000"/>
              </a:lnSpc>
              <a:buNone/>
            </a:pPr>
            <a:r>
              <a:rPr lang="en-US" sz="1800" dirty="0"/>
              <a:t>	• </a:t>
            </a:r>
            <a:r>
              <a:rPr lang="en-US" sz="1600" dirty="0"/>
              <a:t>The study proposed an IoT-based waste segregation system equipped with wet 	and dry sensors on the top of the lid. When waste is placed on the lid, the 	sensors 	detect the type of waste, and the lid automatically opens to the 	corresponding 	waste slot in the bin, ensuring proper segregation. This approach enhances 	efficiency and accuracy in waste management.</a:t>
            </a:r>
            <a:endParaRPr lang="en-IN" sz="1800" dirty="0"/>
          </a:p>
        </p:txBody>
      </p:sp>
    </p:spTree>
    <p:extLst>
      <p:ext uri="{BB962C8B-B14F-4D97-AF65-F5344CB8AC3E}">
        <p14:creationId xmlns:p14="http://schemas.microsoft.com/office/powerpoint/2010/main" val="1369383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6F084-FFC8-DCFF-D8E7-430121AE5C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0152FB-73A1-6311-4AE7-50370810B2A3}"/>
              </a:ext>
            </a:extLst>
          </p:cNvPr>
          <p:cNvSpPr>
            <a:spLocks noGrp="1"/>
          </p:cNvSpPr>
          <p:nvPr>
            <p:ph type="title"/>
          </p:nvPr>
        </p:nvSpPr>
        <p:spPr/>
        <p:txBody>
          <a:bodyPr>
            <a:normAutofit/>
          </a:bodyPr>
          <a:lstStyle/>
          <a:p>
            <a:r>
              <a:rPr lang="en-IN" dirty="0">
                <a:solidFill>
                  <a:schemeClr val="accent1">
                    <a:lumMod val="60000"/>
                    <a:lumOff val="40000"/>
                  </a:schemeClr>
                </a:solidFill>
              </a:rPr>
              <a:t>Existing vs Proposed Model</a:t>
            </a:r>
          </a:p>
        </p:txBody>
      </p:sp>
      <p:sp>
        <p:nvSpPr>
          <p:cNvPr id="3" name="Content Placeholder 2">
            <a:extLst>
              <a:ext uri="{FF2B5EF4-FFF2-40B4-BE49-F238E27FC236}">
                <a16:creationId xmlns:a16="http://schemas.microsoft.com/office/drawing/2014/main" id="{1328DDB6-D58D-6342-A368-E9C700D3921F}"/>
              </a:ext>
            </a:extLst>
          </p:cNvPr>
          <p:cNvSpPr>
            <a:spLocks noGrp="1"/>
          </p:cNvSpPr>
          <p:nvPr>
            <p:ph idx="1"/>
          </p:nvPr>
        </p:nvSpPr>
        <p:spPr/>
        <p:txBody>
          <a:bodyPr>
            <a:noAutofit/>
          </a:bodyPr>
          <a:lstStyle/>
          <a:p>
            <a:pPr algn="just"/>
            <a:r>
              <a:rPr lang="en-US" b="1" dirty="0"/>
              <a:t>Existing Model</a:t>
            </a:r>
            <a:r>
              <a:rPr lang="en-US" sz="2000" b="1" dirty="0"/>
              <a:t>:</a:t>
            </a:r>
            <a:r>
              <a:rPr lang="en-US" sz="2000" dirty="0"/>
              <a:t> </a:t>
            </a:r>
            <a:r>
              <a:rPr lang="en-US" dirty="0"/>
              <a:t>The existing waste management system relies on manual segregation, making it labor-intensive, time-consuming, and prone to human error. This often leads to improper waste disposal, contributing to inefficiencies in recycling. Although some systems incorporate basic waste classification, they lack advanced sensor-based detection, mobile integration, and real-time monitoring, making waste management less effective.</a:t>
            </a:r>
          </a:p>
          <a:p>
            <a:pPr algn="just"/>
            <a:r>
              <a:rPr lang="en-US" sz="2000" b="1" dirty="0"/>
              <a:t>Proposed Model:</a:t>
            </a:r>
            <a:r>
              <a:rPr lang="en-US" sz="2000" dirty="0"/>
              <a:t> Utilizes sensors and automation to detect, classify, and segregate waste efficiently. The system ensures accurate classification, eliminates human error, and enhances recycling efficiency. Real-time monitoring via a mobile app allows users to track bin levels, receive alerts, and manage waste disposal remotely. This improves waste management, reduces manual effort, and promotes a cleaner environment.</a:t>
            </a:r>
          </a:p>
          <a:p>
            <a:endParaRPr lang="en-IN" sz="2400" dirty="0"/>
          </a:p>
        </p:txBody>
      </p:sp>
    </p:spTree>
    <p:extLst>
      <p:ext uri="{BB962C8B-B14F-4D97-AF65-F5344CB8AC3E}">
        <p14:creationId xmlns:p14="http://schemas.microsoft.com/office/powerpoint/2010/main" val="3708103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897B5-E259-CEFA-B0A5-D4877CE8F9D2}"/>
              </a:ext>
            </a:extLst>
          </p:cNvPr>
          <p:cNvSpPr>
            <a:spLocks noGrp="1"/>
          </p:cNvSpPr>
          <p:nvPr>
            <p:ph type="title"/>
          </p:nvPr>
        </p:nvSpPr>
        <p:spPr/>
        <p:txBody>
          <a:bodyPr/>
          <a:lstStyle/>
          <a:p>
            <a:r>
              <a:rPr lang="en-IN" dirty="0">
                <a:solidFill>
                  <a:schemeClr val="accent1">
                    <a:lumMod val="60000"/>
                    <a:lumOff val="40000"/>
                  </a:schemeClr>
                </a:solidFill>
              </a:rPr>
              <a:t>Objective</a:t>
            </a:r>
          </a:p>
        </p:txBody>
      </p:sp>
      <p:sp>
        <p:nvSpPr>
          <p:cNvPr id="3" name="Content Placeholder 2">
            <a:extLst>
              <a:ext uri="{FF2B5EF4-FFF2-40B4-BE49-F238E27FC236}">
                <a16:creationId xmlns:a16="http://schemas.microsoft.com/office/drawing/2014/main" id="{0727A9FE-4E10-6C98-4C41-5999FB1E6747}"/>
              </a:ext>
            </a:extLst>
          </p:cNvPr>
          <p:cNvSpPr>
            <a:spLocks noGrp="1"/>
          </p:cNvSpPr>
          <p:nvPr>
            <p:ph idx="1"/>
          </p:nvPr>
        </p:nvSpPr>
        <p:spPr/>
        <p:txBody>
          <a:bodyPr>
            <a:noAutofit/>
          </a:bodyPr>
          <a:lstStyle/>
          <a:p>
            <a:pPr>
              <a:lnSpc>
                <a:spcPct val="150000"/>
              </a:lnSpc>
            </a:pPr>
            <a:r>
              <a:rPr lang="en-US" dirty="0"/>
              <a:t>Develop an automated waste segregation system.</a:t>
            </a:r>
          </a:p>
          <a:p>
            <a:pPr>
              <a:lnSpc>
                <a:spcPct val="150000"/>
              </a:lnSpc>
            </a:pPr>
            <a:r>
              <a:rPr lang="en-US" dirty="0"/>
              <a:t> Implement sensor-based classification of waste.</a:t>
            </a:r>
          </a:p>
          <a:p>
            <a:pPr>
              <a:lnSpc>
                <a:spcPct val="150000"/>
              </a:lnSpc>
            </a:pPr>
            <a:r>
              <a:rPr lang="en-US" dirty="0"/>
              <a:t> Reduce human involvement in waste sorting.</a:t>
            </a:r>
          </a:p>
          <a:p>
            <a:pPr>
              <a:lnSpc>
                <a:spcPct val="150000"/>
              </a:lnSpc>
            </a:pPr>
            <a:r>
              <a:rPr lang="en-US" dirty="0"/>
              <a:t> Integrate a mobile app and cloud-based system for remote monitoring.</a:t>
            </a:r>
          </a:p>
          <a:p>
            <a:pPr>
              <a:lnSpc>
                <a:spcPct val="150000"/>
              </a:lnSpc>
            </a:pPr>
            <a:r>
              <a:rPr lang="en-US" dirty="0"/>
              <a:t> Improve waste recycling efficiency and promote sustainability.</a:t>
            </a:r>
          </a:p>
          <a:p>
            <a:pPr>
              <a:lnSpc>
                <a:spcPct val="150000"/>
              </a:lnSpc>
            </a:pPr>
            <a:endParaRPr lang="en-IN" sz="2400" dirty="0"/>
          </a:p>
        </p:txBody>
      </p:sp>
    </p:spTree>
    <p:extLst>
      <p:ext uri="{BB962C8B-B14F-4D97-AF65-F5344CB8AC3E}">
        <p14:creationId xmlns:p14="http://schemas.microsoft.com/office/powerpoint/2010/main" val="17589839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4206A-C98B-20BD-1055-779430231CC3}"/>
              </a:ext>
            </a:extLst>
          </p:cNvPr>
          <p:cNvSpPr>
            <a:spLocks noGrp="1"/>
          </p:cNvSpPr>
          <p:nvPr>
            <p:ph type="title"/>
          </p:nvPr>
        </p:nvSpPr>
        <p:spPr/>
        <p:txBody>
          <a:bodyPr/>
          <a:lstStyle/>
          <a:p>
            <a:r>
              <a:rPr lang="en-IN" dirty="0">
                <a:solidFill>
                  <a:schemeClr val="accent1">
                    <a:lumMod val="60000"/>
                    <a:lumOff val="40000"/>
                  </a:schemeClr>
                </a:solidFill>
              </a:rPr>
              <a:t>Methodology</a:t>
            </a:r>
          </a:p>
        </p:txBody>
      </p:sp>
      <p:sp>
        <p:nvSpPr>
          <p:cNvPr id="3" name="Content Placeholder 2">
            <a:extLst>
              <a:ext uri="{FF2B5EF4-FFF2-40B4-BE49-F238E27FC236}">
                <a16:creationId xmlns:a16="http://schemas.microsoft.com/office/drawing/2014/main" id="{E077A793-1CA0-5D98-A8E5-23C68571BB21}"/>
              </a:ext>
            </a:extLst>
          </p:cNvPr>
          <p:cNvSpPr>
            <a:spLocks noGrp="1"/>
          </p:cNvSpPr>
          <p:nvPr>
            <p:ph idx="1"/>
          </p:nvPr>
        </p:nvSpPr>
        <p:spPr/>
        <p:txBody>
          <a:bodyPr>
            <a:normAutofit lnSpcReduction="10000"/>
          </a:bodyPr>
          <a:lstStyle/>
          <a:p>
            <a:pPr>
              <a:buFont typeface="+mj-lt"/>
              <a:buAutoNum type="arabicPeriod"/>
            </a:pPr>
            <a:r>
              <a:rPr lang="en-IN" sz="2400" b="1" dirty="0"/>
              <a:t>Waste Detection:</a:t>
            </a:r>
            <a:r>
              <a:rPr lang="en-IN" sz="2400" dirty="0"/>
              <a:t> Moisture, Metal, and ultrasonic sensors classify waste.</a:t>
            </a:r>
          </a:p>
          <a:p>
            <a:pPr>
              <a:buFont typeface="+mj-lt"/>
              <a:buAutoNum type="arabicPeriod"/>
            </a:pPr>
            <a:r>
              <a:rPr lang="en-IN" sz="2400" b="1" dirty="0"/>
              <a:t>Conveyor Belt Operation:</a:t>
            </a:r>
            <a:r>
              <a:rPr lang="en-IN" sz="2400" dirty="0"/>
              <a:t> Controlled by an L298N driver and DC motor.</a:t>
            </a:r>
          </a:p>
          <a:p>
            <a:pPr>
              <a:buFont typeface="+mj-lt"/>
              <a:buAutoNum type="arabicPeriod"/>
            </a:pPr>
            <a:r>
              <a:rPr lang="en-IN" sz="2400" b="1" dirty="0"/>
              <a:t>Bin Rotation Mechanism:</a:t>
            </a:r>
            <a:r>
              <a:rPr lang="en-IN" sz="2400" dirty="0"/>
              <a:t> Servo motor rotates bins for proper segregation.</a:t>
            </a:r>
          </a:p>
          <a:p>
            <a:pPr>
              <a:buFont typeface="+mj-lt"/>
              <a:buAutoNum type="arabicPeriod"/>
            </a:pPr>
            <a:r>
              <a:rPr lang="en-IN" sz="2400" b="1" dirty="0"/>
              <a:t>Bin Level Monitoring:</a:t>
            </a:r>
            <a:r>
              <a:rPr lang="en-IN" sz="2400" dirty="0"/>
              <a:t> Ultrasonic sensor detects bin level and alerts when bins are full.</a:t>
            </a:r>
          </a:p>
          <a:p>
            <a:pPr>
              <a:buFont typeface="+mj-lt"/>
              <a:buAutoNum type="arabicPeriod"/>
            </a:pPr>
            <a:r>
              <a:rPr lang="en-IN" sz="2400" b="1" dirty="0"/>
              <a:t>Mobile App Integration:</a:t>
            </a:r>
            <a:r>
              <a:rPr lang="en-IN" sz="2400" dirty="0"/>
              <a:t> Displays waste levels and allows system control.</a:t>
            </a:r>
          </a:p>
          <a:p>
            <a:pPr marL="36900" indent="0">
              <a:buNone/>
            </a:pPr>
            <a:endParaRPr lang="en-IN" sz="2400" dirty="0"/>
          </a:p>
        </p:txBody>
      </p:sp>
    </p:spTree>
    <p:extLst>
      <p:ext uri="{BB962C8B-B14F-4D97-AF65-F5344CB8AC3E}">
        <p14:creationId xmlns:p14="http://schemas.microsoft.com/office/powerpoint/2010/main" val="1457662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8230FC8-D3D2-989A-BD8A-6DD00A6AED07}"/>
              </a:ext>
            </a:extLst>
          </p:cNvPr>
          <p:cNvSpPr>
            <a:spLocks noGrp="1"/>
          </p:cNvSpPr>
          <p:nvPr>
            <p:ph type="title"/>
          </p:nvPr>
        </p:nvSpPr>
        <p:spPr>
          <a:xfrm>
            <a:off x="649086" y="473826"/>
            <a:ext cx="7765322" cy="669042"/>
          </a:xfrm>
        </p:spPr>
        <p:txBody>
          <a:bodyPr>
            <a:normAutofit fontScale="90000"/>
          </a:bodyPr>
          <a:lstStyle/>
          <a:p>
            <a:r>
              <a:rPr lang="en-US" dirty="0">
                <a:solidFill>
                  <a:schemeClr val="accent1">
                    <a:lumMod val="60000"/>
                    <a:lumOff val="40000"/>
                  </a:schemeClr>
                </a:solidFill>
              </a:rPr>
              <a:t>Block Diagram</a:t>
            </a:r>
            <a:endParaRPr lang="en-IN" dirty="0">
              <a:solidFill>
                <a:schemeClr val="accent1">
                  <a:lumMod val="60000"/>
                  <a:lumOff val="40000"/>
                </a:schemeClr>
              </a:solidFill>
            </a:endParaRPr>
          </a:p>
        </p:txBody>
      </p:sp>
      <p:pic>
        <p:nvPicPr>
          <p:cNvPr id="3" name="Picture 2">
            <a:extLst>
              <a:ext uri="{FF2B5EF4-FFF2-40B4-BE49-F238E27FC236}">
                <a16:creationId xmlns:a16="http://schemas.microsoft.com/office/drawing/2014/main" id="{CACA4615-1F39-C8D7-151F-201B92C163D6}"/>
              </a:ext>
            </a:extLst>
          </p:cNvPr>
          <p:cNvPicPr>
            <a:picLocks noChangeAspect="1"/>
          </p:cNvPicPr>
          <p:nvPr/>
        </p:nvPicPr>
        <p:blipFill>
          <a:blip r:embed="rId2"/>
          <a:stretch>
            <a:fillRect/>
          </a:stretch>
        </p:blipFill>
        <p:spPr>
          <a:xfrm>
            <a:off x="457200" y="1371416"/>
            <a:ext cx="8095786" cy="398198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7862" y="223389"/>
            <a:ext cx="7765322" cy="970450"/>
          </a:xfrm>
        </p:spPr>
        <p:txBody>
          <a:bodyPr/>
          <a:lstStyle/>
          <a:p>
            <a:r>
              <a:rPr lang="en-IN" dirty="0">
                <a:solidFill>
                  <a:schemeClr val="accent1">
                    <a:lumMod val="60000"/>
                    <a:lumOff val="40000"/>
                  </a:schemeClr>
                </a:solidFill>
              </a:rPr>
              <a:t>Hardware and Software Used</a:t>
            </a:r>
            <a:endParaRPr dirty="0">
              <a:solidFill>
                <a:schemeClr val="accent1">
                  <a:lumMod val="60000"/>
                  <a:lumOff val="40000"/>
                </a:schemeClr>
              </a:solidFill>
            </a:endParaRPr>
          </a:p>
        </p:txBody>
      </p:sp>
      <p:sp>
        <p:nvSpPr>
          <p:cNvPr id="3" name="Content Placeholder 2"/>
          <p:cNvSpPr>
            <a:spLocks noGrp="1"/>
          </p:cNvSpPr>
          <p:nvPr>
            <p:ph idx="1"/>
          </p:nvPr>
        </p:nvSpPr>
        <p:spPr>
          <a:xfrm>
            <a:off x="685346" y="1414272"/>
            <a:ext cx="7765322" cy="5443728"/>
          </a:xfrm>
        </p:spPr>
        <p:txBody>
          <a:bodyPr>
            <a:normAutofit/>
          </a:bodyPr>
          <a:lstStyle/>
          <a:p>
            <a:r>
              <a:rPr lang="en-IN" dirty="0">
                <a:solidFill>
                  <a:schemeClr val="accent1">
                    <a:lumMod val="40000"/>
                    <a:lumOff val="60000"/>
                  </a:schemeClr>
                </a:solidFill>
              </a:rPr>
              <a:t>Software:</a:t>
            </a:r>
          </a:p>
          <a:p>
            <a:pPr marL="36900" indent="0">
              <a:buNone/>
            </a:pPr>
            <a:r>
              <a:rPr lang="en-IN" dirty="0"/>
              <a:t>	</a:t>
            </a:r>
            <a:r>
              <a:rPr lang="en-IN" b="1" dirty="0"/>
              <a:t>Arduino IDE:</a:t>
            </a:r>
            <a:r>
              <a:rPr lang="en-IN" dirty="0"/>
              <a:t> Used for programming the microcontrollers 	(Arduino Mega, </a:t>
            </a:r>
            <a:r>
              <a:rPr lang="en-IN" dirty="0" err="1"/>
              <a:t>NodeMCU</a:t>
            </a:r>
            <a:r>
              <a:rPr lang="en-IN" dirty="0"/>
              <a:t>).</a:t>
            </a:r>
          </a:p>
          <a:p>
            <a:pPr marL="36900" indent="0">
              <a:buNone/>
            </a:pPr>
            <a:r>
              <a:rPr lang="en-IN" b="1" dirty="0"/>
              <a:t>	Google Flutter:</a:t>
            </a:r>
            <a:r>
              <a:rPr lang="en-IN" dirty="0"/>
              <a:t> Provides real-time monitoring and control 	through a mobile interface.</a:t>
            </a:r>
          </a:p>
          <a:p>
            <a:pPr marL="36900" indent="0">
              <a:buNone/>
            </a:pPr>
            <a:r>
              <a:rPr lang="en-IN" b="1" dirty="0"/>
              <a:t>	C++:</a:t>
            </a:r>
            <a:r>
              <a:rPr lang="en-IN" dirty="0"/>
              <a:t> Programming languages for firmware development.</a:t>
            </a:r>
          </a:p>
          <a:p>
            <a:pPr marL="36900" indent="0">
              <a:buNone/>
            </a:pPr>
            <a:r>
              <a:rPr lang="en-IN" b="1" dirty="0"/>
              <a:t>	Libraries:</a:t>
            </a:r>
            <a:r>
              <a:rPr lang="en-IN" dirty="0"/>
              <a:t> Includes necessary sensor libraries for interfacing 	components (e.g., LiquidCrystal_I2C, Servo, etc.).</a:t>
            </a:r>
          </a:p>
          <a:p>
            <a:pPr marL="0" indent="0">
              <a:buNone/>
            </a:pPr>
            <a:endParaRPr lang="en-IN" dirty="0"/>
          </a:p>
          <a:p>
            <a:pPr marL="0" indent="0">
              <a:buNone/>
            </a:pPr>
            <a:endParaRPr lang="en-IN" dirty="0"/>
          </a:p>
          <a:p>
            <a:pPr indent="-342900">
              <a:lnSpc>
                <a:spcPct val="170000"/>
              </a:lnSpc>
            </a:pPr>
            <a:endParaRPr lang="en-IN" sz="1800" u="sng" dirty="0">
              <a:solidFill>
                <a:schemeClr val="accent5">
                  <a:lumMod val="60000"/>
                  <a:lumOff val="40000"/>
                </a:schemeClr>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090D0-E822-2954-B226-74269C2C4D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86F426-95DA-A4E8-9FC4-3A5AAFFD0A76}"/>
              </a:ext>
            </a:extLst>
          </p:cNvPr>
          <p:cNvSpPr>
            <a:spLocks noGrp="1"/>
          </p:cNvSpPr>
          <p:nvPr>
            <p:ph type="title"/>
          </p:nvPr>
        </p:nvSpPr>
        <p:spPr>
          <a:xfrm>
            <a:off x="537862" y="223389"/>
            <a:ext cx="7765322" cy="970450"/>
          </a:xfrm>
        </p:spPr>
        <p:txBody>
          <a:bodyPr/>
          <a:lstStyle/>
          <a:p>
            <a:r>
              <a:rPr lang="en-IN" dirty="0">
                <a:solidFill>
                  <a:schemeClr val="accent1">
                    <a:lumMod val="60000"/>
                    <a:lumOff val="40000"/>
                  </a:schemeClr>
                </a:solidFill>
              </a:rPr>
              <a:t>Hardware and Software Used</a:t>
            </a:r>
            <a:endParaRPr dirty="0">
              <a:solidFill>
                <a:schemeClr val="accent1">
                  <a:lumMod val="60000"/>
                  <a:lumOff val="40000"/>
                </a:schemeClr>
              </a:solidFill>
            </a:endParaRPr>
          </a:p>
        </p:txBody>
      </p:sp>
      <p:sp>
        <p:nvSpPr>
          <p:cNvPr id="3" name="Content Placeholder 2">
            <a:extLst>
              <a:ext uri="{FF2B5EF4-FFF2-40B4-BE49-F238E27FC236}">
                <a16:creationId xmlns:a16="http://schemas.microsoft.com/office/drawing/2014/main" id="{0167CFEC-6C59-DF6A-10D9-E39279D98370}"/>
              </a:ext>
            </a:extLst>
          </p:cNvPr>
          <p:cNvSpPr>
            <a:spLocks noGrp="1"/>
          </p:cNvSpPr>
          <p:nvPr>
            <p:ph idx="1"/>
          </p:nvPr>
        </p:nvSpPr>
        <p:spPr>
          <a:xfrm>
            <a:off x="685346" y="1414272"/>
            <a:ext cx="7765322" cy="5443728"/>
          </a:xfrm>
        </p:spPr>
        <p:txBody>
          <a:bodyPr>
            <a:normAutofit/>
          </a:bodyPr>
          <a:lstStyle/>
          <a:p>
            <a:r>
              <a:rPr lang="en-IN" dirty="0">
                <a:solidFill>
                  <a:schemeClr val="accent1">
                    <a:lumMod val="40000"/>
                    <a:lumOff val="60000"/>
                  </a:schemeClr>
                </a:solidFill>
              </a:rPr>
              <a:t>Hardware:</a:t>
            </a:r>
          </a:p>
          <a:p>
            <a:pPr marL="0" indent="0">
              <a:buNone/>
            </a:pPr>
            <a:r>
              <a:rPr lang="en-IN" dirty="0"/>
              <a:t>	Arduino Mega, ESP8266, 12V SMPS</a:t>
            </a:r>
          </a:p>
          <a:p>
            <a:pPr marL="0" indent="0">
              <a:buNone/>
            </a:pPr>
            <a:r>
              <a:rPr lang="en-IN" dirty="0"/>
              <a:t>	Sensors: Moisture, Metal Sensor, Ultra Sonic Sensor</a:t>
            </a:r>
          </a:p>
          <a:p>
            <a:pPr marL="0" indent="0">
              <a:buNone/>
            </a:pPr>
            <a:r>
              <a:rPr lang="en-IN" dirty="0"/>
              <a:t>	Conveyor belt, DC motor, Servo motors, DC motor driver 	(L298N), Bearings</a:t>
            </a:r>
          </a:p>
          <a:p>
            <a:pPr marL="457200" lvl="1" indent="0">
              <a:buNone/>
            </a:pPr>
            <a:r>
              <a:rPr lang="en-IN" dirty="0"/>
              <a:t>LCD 16x2 with I2C interface, Buzzer</a:t>
            </a:r>
          </a:p>
          <a:p>
            <a:pPr marL="0" indent="0">
              <a:buNone/>
            </a:pPr>
            <a:endParaRPr lang="en-IN" dirty="0"/>
          </a:p>
          <a:p>
            <a:pPr indent="-342900">
              <a:lnSpc>
                <a:spcPct val="170000"/>
              </a:lnSpc>
            </a:pPr>
            <a:endParaRPr lang="en-IN" sz="1800" u="sng" dirty="0">
              <a:solidFill>
                <a:schemeClr val="accent5">
                  <a:lumMod val="60000"/>
                  <a:lumOff val="40000"/>
                </a:schemeClr>
              </a:solidFill>
            </a:endParaRPr>
          </a:p>
        </p:txBody>
      </p:sp>
    </p:spTree>
    <p:extLst>
      <p:ext uri="{BB962C8B-B14F-4D97-AF65-F5344CB8AC3E}">
        <p14:creationId xmlns:p14="http://schemas.microsoft.com/office/powerpoint/2010/main" val="23758357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6810E-6FCA-F057-8534-55802B9693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FBCC27-A30F-B0AE-2134-5F372C7CFF6F}"/>
              </a:ext>
            </a:extLst>
          </p:cNvPr>
          <p:cNvSpPr>
            <a:spLocks noGrp="1"/>
          </p:cNvSpPr>
          <p:nvPr>
            <p:ph type="title"/>
          </p:nvPr>
        </p:nvSpPr>
        <p:spPr>
          <a:xfrm>
            <a:off x="537862" y="-117987"/>
            <a:ext cx="7765322" cy="970450"/>
          </a:xfrm>
        </p:spPr>
        <p:txBody>
          <a:bodyPr/>
          <a:lstStyle/>
          <a:p>
            <a:r>
              <a:rPr dirty="0">
                <a:solidFill>
                  <a:schemeClr val="accent1">
                    <a:lumMod val="60000"/>
                    <a:lumOff val="40000"/>
                  </a:schemeClr>
                </a:solidFill>
              </a:rPr>
              <a:t>Hardware</a:t>
            </a:r>
            <a:r>
              <a:rPr lang="en-IN" dirty="0">
                <a:solidFill>
                  <a:schemeClr val="accent1">
                    <a:lumMod val="60000"/>
                    <a:lumOff val="40000"/>
                  </a:schemeClr>
                </a:solidFill>
              </a:rPr>
              <a:t> Description</a:t>
            </a:r>
            <a:endParaRPr dirty="0">
              <a:solidFill>
                <a:schemeClr val="accent1">
                  <a:lumMod val="60000"/>
                  <a:lumOff val="40000"/>
                </a:schemeClr>
              </a:solidFill>
            </a:endParaRPr>
          </a:p>
        </p:txBody>
      </p:sp>
      <p:sp>
        <p:nvSpPr>
          <p:cNvPr id="3" name="Content Placeholder 2">
            <a:extLst>
              <a:ext uri="{FF2B5EF4-FFF2-40B4-BE49-F238E27FC236}">
                <a16:creationId xmlns:a16="http://schemas.microsoft.com/office/drawing/2014/main" id="{1ADC98D9-2880-1B7F-B713-AA84D334A303}"/>
              </a:ext>
            </a:extLst>
          </p:cNvPr>
          <p:cNvSpPr>
            <a:spLocks noGrp="1"/>
          </p:cNvSpPr>
          <p:nvPr>
            <p:ph idx="1"/>
          </p:nvPr>
        </p:nvSpPr>
        <p:spPr>
          <a:xfrm>
            <a:off x="685346" y="698090"/>
            <a:ext cx="7765322" cy="6159910"/>
          </a:xfrm>
        </p:spPr>
        <p:txBody>
          <a:bodyPr>
            <a:normAutofit/>
          </a:bodyPr>
          <a:lstStyle/>
          <a:p>
            <a:pPr indent="-342900">
              <a:lnSpc>
                <a:spcPct val="170000"/>
              </a:lnSpc>
            </a:pPr>
            <a:r>
              <a:rPr lang="en-IN" b="1" u="sng" dirty="0">
                <a:solidFill>
                  <a:schemeClr val="accent5">
                    <a:lumMod val="60000"/>
                    <a:lumOff val="40000"/>
                  </a:schemeClr>
                </a:solidFill>
              </a:rPr>
              <a:t>Arduino Mega: </a:t>
            </a:r>
            <a:r>
              <a:rPr lang="en-US" sz="1800" dirty="0"/>
              <a:t>The Arduino Mega 2560 is a microcontroller board based on the ATmega2560, featuring 54 digital I/O pins, 16 analog inputs, and 4 UARTs, making it ideal for complex projects like robotics and automation. It operates at 16 MHz with 5V logic and supports I2C, SPI, and UART communication. While it lacks built-in Wi-Fi, it can connect to external modules for network capabilities and is programmed via USB using the Arduino IDE.</a:t>
            </a:r>
            <a:endParaRPr lang="en-IN" sz="1800" dirty="0">
              <a:solidFill>
                <a:schemeClr val="accent5">
                  <a:lumMod val="60000"/>
                  <a:lumOff val="40000"/>
                </a:schemeClr>
              </a:solidFill>
              <a:effectLst/>
            </a:endParaRPr>
          </a:p>
          <a:p>
            <a:pPr indent="-342900">
              <a:lnSpc>
                <a:spcPct val="170000"/>
              </a:lnSpc>
            </a:pPr>
            <a:endParaRPr lang="en-IN" sz="1800" u="sng" dirty="0">
              <a:solidFill>
                <a:schemeClr val="accent5">
                  <a:lumMod val="60000"/>
                  <a:lumOff val="40000"/>
                </a:schemeClr>
              </a:solidFill>
            </a:endParaRPr>
          </a:p>
        </p:txBody>
      </p:sp>
      <p:pic>
        <p:nvPicPr>
          <p:cNvPr id="9" name="Picture 8">
            <a:extLst>
              <a:ext uri="{FF2B5EF4-FFF2-40B4-BE49-F238E27FC236}">
                <a16:creationId xmlns:a16="http://schemas.microsoft.com/office/drawing/2014/main" id="{6DA112D7-148C-8DA6-EE6B-B90D07847DAA}"/>
              </a:ext>
            </a:extLst>
          </p:cNvPr>
          <p:cNvPicPr>
            <a:picLocks noChangeAspect="1"/>
          </p:cNvPicPr>
          <p:nvPr/>
        </p:nvPicPr>
        <p:blipFill>
          <a:blip r:embed="rId2"/>
          <a:stretch>
            <a:fillRect/>
          </a:stretch>
        </p:blipFill>
        <p:spPr>
          <a:xfrm>
            <a:off x="2628673" y="4139380"/>
            <a:ext cx="3878668" cy="2430092"/>
          </a:xfrm>
          <a:prstGeom prst="rect">
            <a:avLst/>
          </a:prstGeom>
        </p:spPr>
      </p:pic>
    </p:spTree>
    <p:extLst>
      <p:ext uri="{BB962C8B-B14F-4D97-AF65-F5344CB8AC3E}">
        <p14:creationId xmlns:p14="http://schemas.microsoft.com/office/powerpoint/2010/main" val="26865488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9AC65-A823-56EE-516F-7CFD9456A95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D75618-CE02-84F9-8163-B60AE79B4FC6}"/>
              </a:ext>
            </a:extLst>
          </p:cNvPr>
          <p:cNvSpPr>
            <a:spLocks noGrp="1"/>
          </p:cNvSpPr>
          <p:nvPr>
            <p:ph idx="1"/>
          </p:nvPr>
        </p:nvSpPr>
        <p:spPr>
          <a:xfrm>
            <a:off x="0" y="0"/>
            <a:ext cx="9144000" cy="6858000"/>
          </a:xfrm>
        </p:spPr>
        <p:txBody>
          <a:bodyPr>
            <a:normAutofit/>
          </a:bodyPr>
          <a:lstStyle/>
          <a:p>
            <a:pPr indent="-342900">
              <a:lnSpc>
                <a:spcPct val="170000"/>
              </a:lnSpc>
            </a:pPr>
            <a:r>
              <a:rPr lang="en-IN" b="1" u="sng" dirty="0">
                <a:solidFill>
                  <a:schemeClr val="accent5">
                    <a:lumMod val="60000"/>
                    <a:lumOff val="40000"/>
                  </a:schemeClr>
                </a:solidFill>
                <a:effectLst/>
              </a:rPr>
              <a:t>ESP8266:</a:t>
            </a:r>
            <a:r>
              <a:rPr lang="en-US" sz="1800" dirty="0"/>
              <a:t>The </a:t>
            </a:r>
            <a:r>
              <a:rPr lang="en-US" sz="1800" b="1" dirty="0"/>
              <a:t>ESP8266</a:t>
            </a:r>
            <a:r>
              <a:rPr lang="en-US" sz="1800" dirty="0"/>
              <a:t> is a low-cost, Wi-Fi-enabled microcontroller by </a:t>
            </a:r>
            <a:r>
              <a:rPr lang="en-US" sz="1800" b="1" dirty="0" err="1"/>
              <a:t>Espressif</a:t>
            </a:r>
            <a:r>
              <a:rPr lang="en-US" sz="1800" b="1" dirty="0"/>
              <a:t> Systems</a:t>
            </a:r>
            <a:r>
              <a:rPr lang="en-US" sz="1800" dirty="0"/>
              <a:t>, ideal for </a:t>
            </a:r>
            <a:r>
              <a:rPr lang="en-US" sz="1800" b="1" dirty="0"/>
              <a:t>IoT projects</a:t>
            </a:r>
            <a:r>
              <a:rPr lang="en-US" sz="1800" dirty="0"/>
              <a:t>. Running at </a:t>
            </a:r>
            <a:r>
              <a:rPr lang="en-US" sz="1800" b="1" dirty="0"/>
              <a:t>80/160 MHz</a:t>
            </a:r>
            <a:r>
              <a:rPr lang="en-US" sz="1800" dirty="0"/>
              <a:t> with </a:t>
            </a:r>
            <a:r>
              <a:rPr lang="en-US" sz="1800" b="1" dirty="0"/>
              <a:t>3.3V logic</a:t>
            </a:r>
            <a:r>
              <a:rPr lang="en-US" sz="1800" dirty="0"/>
              <a:t>, it has a built-in </a:t>
            </a:r>
            <a:r>
              <a:rPr lang="en-US" sz="1800" b="1" dirty="0"/>
              <a:t>TCP/IP stack</a:t>
            </a:r>
            <a:r>
              <a:rPr lang="en-US" sz="1800" dirty="0"/>
              <a:t> for internet connectivity. Different modules offer varying </a:t>
            </a:r>
            <a:r>
              <a:rPr lang="en-US" sz="1800" b="1" dirty="0"/>
              <a:t>GPIO pins</a:t>
            </a:r>
            <a:r>
              <a:rPr lang="en-US" sz="1800" dirty="0"/>
              <a:t>, and it supports programming via </a:t>
            </a:r>
            <a:r>
              <a:rPr lang="en-US" sz="1800" b="1" dirty="0"/>
              <a:t>Arduino IDE, </a:t>
            </a:r>
            <a:r>
              <a:rPr lang="en-US" sz="1800" b="1" dirty="0" err="1"/>
              <a:t>MicroPython</a:t>
            </a:r>
            <a:r>
              <a:rPr lang="en-US" sz="1800" b="1" dirty="0"/>
              <a:t>, and AT commands</a:t>
            </a:r>
            <a:r>
              <a:rPr lang="en-US" sz="1800" dirty="0"/>
              <a:t>, making it versatile for automation and remote monitoring.</a:t>
            </a:r>
          </a:p>
          <a:p>
            <a:pPr indent="-342900">
              <a:lnSpc>
                <a:spcPct val="170000"/>
              </a:lnSpc>
            </a:pPr>
            <a:endParaRPr lang="en-US" sz="1800" dirty="0"/>
          </a:p>
          <a:p>
            <a:pPr indent="-342900">
              <a:lnSpc>
                <a:spcPct val="170000"/>
              </a:lnSpc>
            </a:pPr>
            <a:endParaRPr lang="en-US" sz="1800" dirty="0"/>
          </a:p>
          <a:p>
            <a:pPr indent="-342900">
              <a:lnSpc>
                <a:spcPct val="170000"/>
              </a:lnSpc>
            </a:pPr>
            <a:endParaRPr lang="en-US" sz="1800" dirty="0"/>
          </a:p>
          <a:p>
            <a:pPr indent="-342900">
              <a:lnSpc>
                <a:spcPct val="170000"/>
              </a:lnSpc>
            </a:pPr>
            <a:endParaRPr lang="en-US" sz="1800" dirty="0"/>
          </a:p>
          <a:p>
            <a:pPr indent="-342900">
              <a:lnSpc>
                <a:spcPct val="170000"/>
              </a:lnSpc>
            </a:pPr>
            <a:endParaRPr lang="en-US" sz="1800" dirty="0"/>
          </a:p>
          <a:p>
            <a:pPr indent="-342900">
              <a:lnSpc>
                <a:spcPct val="170000"/>
              </a:lnSpc>
            </a:pPr>
            <a:endParaRPr lang="en-IN" sz="1800" b="1" u="sng" dirty="0">
              <a:solidFill>
                <a:schemeClr val="accent5">
                  <a:lumMod val="60000"/>
                  <a:lumOff val="40000"/>
                </a:schemeClr>
              </a:solidFill>
              <a:effectLst/>
            </a:endParaRPr>
          </a:p>
          <a:p>
            <a:pPr indent="-342900">
              <a:lnSpc>
                <a:spcPct val="170000"/>
              </a:lnSpc>
            </a:pPr>
            <a:endParaRPr lang="en-IN" sz="1800" u="sng" dirty="0">
              <a:solidFill>
                <a:schemeClr val="accent5">
                  <a:lumMod val="60000"/>
                  <a:lumOff val="40000"/>
                </a:schemeClr>
              </a:solidFill>
            </a:endParaRPr>
          </a:p>
        </p:txBody>
      </p:sp>
      <p:pic>
        <p:nvPicPr>
          <p:cNvPr id="7" name="Picture 6">
            <a:extLst>
              <a:ext uri="{FF2B5EF4-FFF2-40B4-BE49-F238E27FC236}">
                <a16:creationId xmlns:a16="http://schemas.microsoft.com/office/drawing/2014/main" id="{74B554B2-0E88-B8D6-46F4-FD9D61A4C7D5}"/>
              </a:ext>
            </a:extLst>
          </p:cNvPr>
          <p:cNvPicPr>
            <a:picLocks noChangeAspect="1"/>
          </p:cNvPicPr>
          <p:nvPr/>
        </p:nvPicPr>
        <p:blipFill>
          <a:blip r:embed="rId2"/>
          <a:stretch>
            <a:fillRect/>
          </a:stretch>
        </p:blipFill>
        <p:spPr>
          <a:xfrm>
            <a:off x="2784764" y="2950794"/>
            <a:ext cx="3028335" cy="2170472"/>
          </a:xfrm>
          <a:prstGeom prst="rect">
            <a:avLst/>
          </a:prstGeom>
        </p:spPr>
      </p:pic>
    </p:spTree>
    <p:extLst>
      <p:ext uri="{BB962C8B-B14F-4D97-AF65-F5344CB8AC3E}">
        <p14:creationId xmlns:p14="http://schemas.microsoft.com/office/powerpoint/2010/main" val="25430394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0D444-AE9B-FAE4-B4AA-1A7D421F61FC}"/>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4B24D021-DCD4-764C-EA4B-1CDB22AC85CA}"/>
              </a:ext>
            </a:extLst>
          </p:cNvPr>
          <p:cNvSpPr>
            <a:spLocks noGrp="1"/>
          </p:cNvSpPr>
          <p:nvPr>
            <p:ph idx="1"/>
          </p:nvPr>
        </p:nvSpPr>
        <p:spPr>
          <a:xfrm>
            <a:off x="0" y="1"/>
            <a:ext cx="9144000" cy="6857999"/>
          </a:xfrm>
        </p:spPr>
        <p:txBody>
          <a:bodyPr/>
          <a:lstStyle/>
          <a:p>
            <a:r>
              <a:rPr lang="en-US" b="1" u="sng" dirty="0">
                <a:solidFill>
                  <a:schemeClr val="accent5">
                    <a:lumMod val="60000"/>
                    <a:lumOff val="40000"/>
                  </a:schemeClr>
                </a:solidFill>
              </a:rPr>
              <a:t>Moisture Sensor: </a:t>
            </a:r>
            <a:r>
              <a:rPr lang="en-US" sz="1800" dirty="0"/>
              <a:t>A moisture sensor in a waste management system detects moisture levels in waste materials using resistance or capacitance. It helps in waste segregation, composting, and landfill monitoring, enabling efficient disposal and recycling.</a:t>
            </a:r>
          </a:p>
          <a:p>
            <a:endParaRPr lang="en-US" sz="1800" dirty="0"/>
          </a:p>
          <a:p>
            <a:endParaRPr lang="en-US" sz="1800" dirty="0"/>
          </a:p>
          <a:p>
            <a:endParaRPr lang="en-US" sz="1800" dirty="0"/>
          </a:p>
          <a:p>
            <a:endParaRPr lang="en-US" sz="1800" dirty="0"/>
          </a:p>
          <a:p>
            <a:endParaRPr lang="en-US" sz="1800" dirty="0"/>
          </a:p>
          <a:p>
            <a:endParaRPr lang="en-US" sz="1800" dirty="0"/>
          </a:p>
          <a:p>
            <a:r>
              <a:rPr lang="en-IN" sz="1800" b="1" u="sng" dirty="0">
                <a:solidFill>
                  <a:schemeClr val="accent5">
                    <a:lumMod val="60000"/>
                    <a:lumOff val="40000"/>
                  </a:schemeClr>
                </a:solidFill>
              </a:rPr>
              <a:t>Ultra Sonic Sensor: </a:t>
            </a:r>
            <a:r>
              <a:rPr lang="en-US" sz="1800" dirty="0"/>
              <a:t>An ultrasonic sensor in a waste management system measures waste levels using sound waves.</a:t>
            </a:r>
          </a:p>
          <a:p>
            <a:endParaRPr lang="en-US" sz="1800" dirty="0"/>
          </a:p>
        </p:txBody>
      </p:sp>
      <p:pic>
        <p:nvPicPr>
          <p:cNvPr id="13" name="Picture 12">
            <a:extLst>
              <a:ext uri="{FF2B5EF4-FFF2-40B4-BE49-F238E27FC236}">
                <a16:creationId xmlns:a16="http://schemas.microsoft.com/office/drawing/2014/main" id="{0921F2B5-C63D-2F2F-E981-DE7F42FE002F}"/>
              </a:ext>
            </a:extLst>
          </p:cNvPr>
          <p:cNvPicPr>
            <a:picLocks noChangeAspect="1"/>
          </p:cNvPicPr>
          <p:nvPr/>
        </p:nvPicPr>
        <p:blipFill>
          <a:blip r:embed="rId2"/>
          <a:stretch>
            <a:fillRect/>
          </a:stretch>
        </p:blipFill>
        <p:spPr>
          <a:xfrm>
            <a:off x="3220065" y="1061347"/>
            <a:ext cx="2703870" cy="1750143"/>
          </a:xfrm>
          <a:prstGeom prst="rect">
            <a:avLst/>
          </a:prstGeom>
        </p:spPr>
      </p:pic>
      <p:pic>
        <p:nvPicPr>
          <p:cNvPr id="2" name="Picture 2" descr="DIY Ultrasonic Sensor HC-SR04 ...">
            <a:extLst>
              <a:ext uri="{FF2B5EF4-FFF2-40B4-BE49-F238E27FC236}">
                <a16:creationId xmlns:a16="http://schemas.microsoft.com/office/drawing/2014/main" id="{0A61B3D5-30CF-D6AF-E5DC-BD0626D686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84801" y="4288920"/>
            <a:ext cx="2439134" cy="161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9556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57F27-7B1B-531B-3090-66630DA26F1A}"/>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CBB4FB3A-A370-78E8-293F-705F91E5C53E}"/>
              </a:ext>
            </a:extLst>
          </p:cNvPr>
          <p:cNvSpPr>
            <a:spLocks noGrp="1"/>
          </p:cNvSpPr>
          <p:nvPr>
            <p:ph idx="1"/>
          </p:nvPr>
        </p:nvSpPr>
        <p:spPr>
          <a:xfrm>
            <a:off x="0" y="1"/>
            <a:ext cx="9144000" cy="6857999"/>
          </a:xfrm>
        </p:spPr>
        <p:txBody>
          <a:bodyPr/>
          <a:lstStyle/>
          <a:p>
            <a:pPr marL="36900" indent="0">
              <a:buNone/>
            </a:pPr>
            <a:endParaRPr lang="en-US" sz="1600" dirty="0"/>
          </a:p>
          <a:p>
            <a:r>
              <a:rPr lang="en-US" sz="1800" b="1" u="sng" dirty="0">
                <a:solidFill>
                  <a:schemeClr val="accent5">
                    <a:lumMod val="60000"/>
                    <a:lumOff val="40000"/>
                  </a:schemeClr>
                </a:solidFill>
              </a:rPr>
              <a:t>12VSMPS:</a:t>
            </a:r>
            <a:r>
              <a:rPr lang="en-US" sz="1800" dirty="0"/>
              <a:t>A </a:t>
            </a:r>
            <a:r>
              <a:rPr lang="en-US" sz="1800" b="1" dirty="0"/>
              <a:t>12V SMPS</a:t>
            </a:r>
            <a:r>
              <a:rPr lang="en-US" sz="1800" dirty="0"/>
              <a:t> converts </a:t>
            </a:r>
            <a:r>
              <a:rPr lang="en-US" sz="1800" b="1" dirty="0"/>
              <a:t>AC to 12V DC</a:t>
            </a:r>
            <a:r>
              <a:rPr lang="en-US" sz="1800" dirty="0"/>
              <a:t> efficiently, with low heat and high reliability. It is used in </a:t>
            </a:r>
            <a:r>
              <a:rPr lang="en-US" sz="1800" b="1" dirty="0"/>
              <a:t>LEDs, CCTV, and automation</a:t>
            </a:r>
            <a:r>
              <a:rPr lang="en-US" sz="1800" dirty="0"/>
              <a:t>, offering safety features like short-circuit protection.</a:t>
            </a:r>
          </a:p>
          <a:p>
            <a:endParaRPr lang="en-US" sz="1800" b="1" u="sng" dirty="0">
              <a:solidFill>
                <a:schemeClr val="accent5">
                  <a:lumMod val="60000"/>
                  <a:lumOff val="40000"/>
                </a:schemeClr>
              </a:solidFill>
            </a:endParaRPr>
          </a:p>
          <a:p>
            <a:endParaRPr lang="en-US" sz="1800" b="1" u="sng" dirty="0">
              <a:solidFill>
                <a:schemeClr val="accent5">
                  <a:lumMod val="60000"/>
                  <a:lumOff val="40000"/>
                </a:schemeClr>
              </a:solidFill>
            </a:endParaRPr>
          </a:p>
          <a:p>
            <a:endParaRPr lang="en-US" sz="1800" b="1" u="sng" dirty="0">
              <a:solidFill>
                <a:schemeClr val="accent5">
                  <a:lumMod val="60000"/>
                  <a:lumOff val="40000"/>
                </a:schemeClr>
              </a:solidFill>
            </a:endParaRPr>
          </a:p>
          <a:p>
            <a:endParaRPr lang="en-US" sz="1800" b="1" u="sng" dirty="0">
              <a:solidFill>
                <a:schemeClr val="accent5">
                  <a:lumMod val="60000"/>
                  <a:lumOff val="40000"/>
                </a:schemeClr>
              </a:solidFill>
            </a:endParaRPr>
          </a:p>
          <a:p>
            <a:pPr marL="36900" indent="0">
              <a:buNone/>
            </a:pPr>
            <a:endParaRPr lang="en-US" sz="1800" b="1" u="sng" dirty="0">
              <a:solidFill>
                <a:schemeClr val="accent5">
                  <a:lumMod val="60000"/>
                  <a:lumOff val="40000"/>
                </a:schemeClr>
              </a:solidFill>
            </a:endParaRPr>
          </a:p>
          <a:p>
            <a:r>
              <a:rPr lang="en-US" sz="1800" b="1" u="sng" dirty="0">
                <a:solidFill>
                  <a:schemeClr val="accent5">
                    <a:lumMod val="60000"/>
                    <a:lumOff val="40000"/>
                  </a:schemeClr>
                </a:solidFill>
              </a:rPr>
              <a:t>Metal Sensor:</a:t>
            </a:r>
            <a:r>
              <a:rPr lang="en-US" sz="1800" b="1" dirty="0">
                <a:solidFill>
                  <a:schemeClr val="accent5">
                    <a:lumMod val="60000"/>
                    <a:lumOff val="40000"/>
                  </a:schemeClr>
                </a:solidFill>
              </a:rPr>
              <a:t> </a:t>
            </a:r>
            <a:r>
              <a:rPr lang="en-US" sz="1800" dirty="0">
                <a:solidFill>
                  <a:schemeClr val="tx1"/>
                </a:solidFill>
              </a:rPr>
              <a:t>A custom built metal sensor used to detect the metal waste.</a:t>
            </a:r>
            <a:endParaRPr lang="en-US" sz="1800" u="sng" dirty="0">
              <a:solidFill>
                <a:schemeClr val="tx1"/>
              </a:solidFill>
            </a:endParaRPr>
          </a:p>
          <a:p>
            <a:endParaRPr lang="en-IN" sz="1800" u="sng" dirty="0">
              <a:solidFill>
                <a:schemeClr val="accent5">
                  <a:lumMod val="60000"/>
                  <a:lumOff val="40000"/>
                </a:schemeClr>
              </a:solidFill>
            </a:endParaRPr>
          </a:p>
        </p:txBody>
      </p:sp>
      <p:pic>
        <p:nvPicPr>
          <p:cNvPr id="8" name="Content Placeholder 3">
            <a:extLst>
              <a:ext uri="{FF2B5EF4-FFF2-40B4-BE49-F238E27FC236}">
                <a16:creationId xmlns:a16="http://schemas.microsoft.com/office/drawing/2014/main" id="{0200E7F3-ADB0-294E-9D8E-DABA7E1FFD1E}"/>
              </a:ext>
            </a:extLst>
          </p:cNvPr>
          <p:cNvPicPr>
            <a:picLocks noChangeAspect="1"/>
          </p:cNvPicPr>
          <p:nvPr/>
        </p:nvPicPr>
        <p:blipFill>
          <a:blip r:embed="rId2"/>
          <a:stretch>
            <a:fillRect/>
          </a:stretch>
        </p:blipFill>
        <p:spPr>
          <a:xfrm>
            <a:off x="3278258" y="1383846"/>
            <a:ext cx="2307895" cy="1833180"/>
          </a:xfrm>
          <a:prstGeom prst="rect">
            <a:avLst/>
          </a:prstGeom>
          <a:effectLst>
            <a:outerShdw blurRad="25400" dir="17880000">
              <a:srgbClr val="000000">
                <a:alpha val="46000"/>
              </a:srgbClr>
            </a:outerShdw>
          </a:effectLst>
        </p:spPr>
      </p:pic>
      <p:pic>
        <p:nvPicPr>
          <p:cNvPr id="3" name="Picture 2">
            <a:extLst>
              <a:ext uri="{FF2B5EF4-FFF2-40B4-BE49-F238E27FC236}">
                <a16:creationId xmlns:a16="http://schemas.microsoft.com/office/drawing/2014/main" id="{FC2AA389-F190-C8B3-F5BF-858BF42EDB59}"/>
              </a:ext>
            </a:extLst>
          </p:cNvPr>
          <p:cNvPicPr>
            <a:picLocks noChangeAspect="1"/>
          </p:cNvPicPr>
          <p:nvPr/>
        </p:nvPicPr>
        <p:blipFill>
          <a:blip r:embed="rId3"/>
          <a:stretch>
            <a:fillRect/>
          </a:stretch>
        </p:blipFill>
        <p:spPr>
          <a:xfrm>
            <a:off x="3278258" y="4020644"/>
            <a:ext cx="2421228" cy="2641414"/>
          </a:xfrm>
          <a:prstGeom prst="rect">
            <a:avLst/>
          </a:prstGeom>
        </p:spPr>
      </p:pic>
    </p:spTree>
    <p:extLst>
      <p:ext uri="{BB962C8B-B14F-4D97-AF65-F5344CB8AC3E}">
        <p14:creationId xmlns:p14="http://schemas.microsoft.com/office/powerpoint/2010/main" val="2144832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4332E-AB97-84C1-12B4-14752855D3A6}"/>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198BD969-A35A-9489-72D6-17FD10B0A662}"/>
              </a:ext>
            </a:extLst>
          </p:cNvPr>
          <p:cNvSpPr>
            <a:spLocks noGrp="1"/>
          </p:cNvSpPr>
          <p:nvPr>
            <p:ph idx="1"/>
          </p:nvPr>
        </p:nvSpPr>
        <p:spPr>
          <a:xfrm>
            <a:off x="0" y="1"/>
            <a:ext cx="9144000" cy="6857999"/>
          </a:xfrm>
        </p:spPr>
        <p:txBody>
          <a:bodyPr/>
          <a:lstStyle/>
          <a:p>
            <a:r>
              <a:rPr lang="en-IN" b="1" u="sng" dirty="0">
                <a:solidFill>
                  <a:schemeClr val="accent5">
                    <a:lumMod val="60000"/>
                    <a:lumOff val="40000"/>
                  </a:schemeClr>
                </a:solidFill>
              </a:rPr>
              <a:t>DC motor:</a:t>
            </a:r>
            <a:r>
              <a:rPr lang="en-US" sz="1800" b="1" u="sng" dirty="0">
                <a:solidFill>
                  <a:schemeClr val="accent5">
                    <a:lumMod val="60000"/>
                    <a:lumOff val="40000"/>
                  </a:schemeClr>
                </a:solidFill>
              </a:rPr>
              <a:t> </a:t>
            </a:r>
            <a:r>
              <a:rPr lang="en-US" sz="1800" dirty="0"/>
              <a:t>DC motor is used to driving conveyor belt.</a:t>
            </a:r>
            <a:endParaRPr lang="en-US" sz="1800" u="sng" dirty="0">
              <a:solidFill>
                <a:schemeClr val="accent5">
                  <a:lumMod val="60000"/>
                  <a:lumOff val="40000"/>
                </a:schemeClr>
              </a:solidFill>
            </a:endParaRPr>
          </a:p>
          <a:p>
            <a:endParaRPr lang="en-US" sz="1800" u="sng" dirty="0">
              <a:solidFill>
                <a:schemeClr val="accent5">
                  <a:lumMod val="60000"/>
                  <a:lumOff val="40000"/>
                </a:schemeClr>
              </a:solidFill>
            </a:endParaRPr>
          </a:p>
          <a:p>
            <a:endParaRPr lang="en-US" sz="1800" u="sng" dirty="0">
              <a:solidFill>
                <a:schemeClr val="accent5">
                  <a:lumMod val="60000"/>
                  <a:lumOff val="40000"/>
                </a:schemeClr>
              </a:solidFill>
            </a:endParaRPr>
          </a:p>
          <a:p>
            <a:endParaRPr lang="en-US" sz="1800" u="sng" dirty="0">
              <a:solidFill>
                <a:schemeClr val="accent5">
                  <a:lumMod val="60000"/>
                  <a:lumOff val="40000"/>
                </a:schemeClr>
              </a:solidFill>
            </a:endParaRPr>
          </a:p>
          <a:p>
            <a:endParaRPr lang="en-US" sz="1800" u="sng" dirty="0">
              <a:solidFill>
                <a:schemeClr val="accent5">
                  <a:lumMod val="60000"/>
                  <a:lumOff val="40000"/>
                </a:schemeClr>
              </a:solidFill>
            </a:endParaRPr>
          </a:p>
          <a:p>
            <a:r>
              <a:rPr lang="en-US" b="1" u="sng" dirty="0">
                <a:solidFill>
                  <a:schemeClr val="accent5">
                    <a:lumMod val="60000"/>
                    <a:lumOff val="40000"/>
                  </a:schemeClr>
                </a:solidFill>
              </a:rPr>
              <a:t>Servo motor: </a:t>
            </a:r>
            <a:r>
              <a:rPr lang="en-US" sz="1800" dirty="0"/>
              <a:t>A servo motor enables precise sorting and waste disposal, improving automation in a waste management system.</a:t>
            </a:r>
          </a:p>
          <a:p>
            <a:endParaRPr lang="en-US" sz="1600" dirty="0"/>
          </a:p>
          <a:p>
            <a:endParaRPr lang="en-IN" b="1" u="sng" dirty="0">
              <a:solidFill>
                <a:schemeClr val="accent5">
                  <a:lumMod val="60000"/>
                  <a:lumOff val="40000"/>
                </a:schemeClr>
              </a:solidFill>
            </a:endParaRPr>
          </a:p>
          <a:p>
            <a:pPr marL="36900" indent="0">
              <a:buNone/>
            </a:pPr>
            <a:endParaRPr lang="en-IN" b="1" u="sng" dirty="0">
              <a:solidFill>
                <a:schemeClr val="accent5">
                  <a:lumMod val="60000"/>
                  <a:lumOff val="40000"/>
                </a:schemeClr>
              </a:solidFill>
            </a:endParaRPr>
          </a:p>
          <a:p>
            <a:pPr marL="36900" indent="0">
              <a:buNone/>
            </a:pPr>
            <a:endParaRPr lang="en-IN" b="1" u="sng" dirty="0">
              <a:solidFill>
                <a:schemeClr val="accent5">
                  <a:lumMod val="60000"/>
                  <a:lumOff val="40000"/>
                </a:schemeClr>
              </a:solidFill>
            </a:endParaRPr>
          </a:p>
          <a:p>
            <a:r>
              <a:rPr lang="en-IN" b="1" u="sng" dirty="0">
                <a:solidFill>
                  <a:schemeClr val="accent5">
                    <a:lumMod val="60000"/>
                    <a:lumOff val="40000"/>
                  </a:schemeClr>
                </a:solidFill>
              </a:rPr>
              <a:t>DC motor Driver:</a:t>
            </a:r>
            <a:r>
              <a:rPr lang="en-US" sz="1800" dirty="0"/>
              <a:t>It controls motor movement, enabling automated waste sorting in a waste management system.</a:t>
            </a:r>
            <a:endParaRPr lang="en-IN" sz="1800" u="sng" dirty="0">
              <a:solidFill>
                <a:schemeClr val="accent5">
                  <a:lumMod val="60000"/>
                  <a:lumOff val="40000"/>
                </a:schemeClr>
              </a:solidFill>
            </a:endParaRPr>
          </a:p>
        </p:txBody>
      </p:sp>
      <p:pic>
        <p:nvPicPr>
          <p:cNvPr id="4" name="Picture 3">
            <a:extLst>
              <a:ext uri="{FF2B5EF4-FFF2-40B4-BE49-F238E27FC236}">
                <a16:creationId xmlns:a16="http://schemas.microsoft.com/office/drawing/2014/main" id="{F9B5382B-19D7-56EE-19E3-824DF0E42F51}"/>
              </a:ext>
            </a:extLst>
          </p:cNvPr>
          <p:cNvPicPr>
            <a:picLocks noChangeAspect="1"/>
          </p:cNvPicPr>
          <p:nvPr/>
        </p:nvPicPr>
        <p:blipFill>
          <a:blip r:embed="rId2"/>
          <a:stretch>
            <a:fillRect/>
          </a:stretch>
        </p:blipFill>
        <p:spPr>
          <a:xfrm>
            <a:off x="3630837" y="571383"/>
            <a:ext cx="2298013" cy="1509252"/>
          </a:xfrm>
          <a:prstGeom prst="rect">
            <a:avLst/>
          </a:prstGeom>
        </p:spPr>
      </p:pic>
      <p:pic>
        <p:nvPicPr>
          <p:cNvPr id="9" name="Picture 8">
            <a:extLst>
              <a:ext uri="{FF2B5EF4-FFF2-40B4-BE49-F238E27FC236}">
                <a16:creationId xmlns:a16="http://schemas.microsoft.com/office/drawing/2014/main" id="{09976EB9-A4FD-3B58-A1F1-45F800C51ADD}"/>
              </a:ext>
            </a:extLst>
          </p:cNvPr>
          <p:cNvPicPr>
            <a:picLocks noChangeAspect="1"/>
          </p:cNvPicPr>
          <p:nvPr/>
        </p:nvPicPr>
        <p:blipFill>
          <a:blip r:embed="rId3"/>
          <a:stretch>
            <a:fillRect/>
          </a:stretch>
        </p:blipFill>
        <p:spPr>
          <a:xfrm>
            <a:off x="3756368" y="2846437"/>
            <a:ext cx="2046952" cy="1509252"/>
          </a:xfrm>
          <a:prstGeom prst="rect">
            <a:avLst/>
          </a:prstGeom>
        </p:spPr>
      </p:pic>
      <p:pic>
        <p:nvPicPr>
          <p:cNvPr id="11" name="Picture 10">
            <a:extLst>
              <a:ext uri="{FF2B5EF4-FFF2-40B4-BE49-F238E27FC236}">
                <a16:creationId xmlns:a16="http://schemas.microsoft.com/office/drawing/2014/main" id="{DECDBB61-67F0-B236-CDA5-7B2AC27E0BCD}"/>
              </a:ext>
            </a:extLst>
          </p:cNvPr>
          <p:cNvPicPr>
            <a:picLocks noChangeAspect="1"/>
          </p:cNvPicPr>
          <p:nvPr/>
        </p:nvPicPr>
        <p:blipFill>
          <a:blip r:embed="rId4"/>
          <a:stretch>
            <a:fillRect/>
          </a:stretch>
        </p:blipFill>
        <p:spPr>
          <a:xfrm>
            <a:off x="3630838" y="5121491"/>
            <a:ext cx="2644569" cy="1644086"/>
          </a:xfrm>
          <a:prstGeom prst="rect">
            <a:avLst/>
          </a:prstGeom>
        </p:spPr>
      </p:pic>
    </p:spTree>
    <p:extLst>
      <p:ext uri="{BB962C8B-B14F-4D97-AF65-F5344CB8AC3E}">
        <p14:creationId xmlns:p14="http://schemas.microsoft.com/office/powerpoint/2010/main" val="38830098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626F9-E6E1-BC07-CDB9-2EBF0B22DF1A}"/>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67FF79C-9C4F-10B1-46FD-26B10532955D}"/>
              </a:ext>
            </a:extLst>
          </p:cNvPr>
          <p:cNvSpPr>
            <a:spLocks noGrp="1"/>
          </p:cNvSpPr>
          <p:nvPr>
            <p:ph idx="1"/>
          </p:nvPr>
        </p:nvSpPr>
        <p:spPr>
          <a:xfrm>
            <a:off x="0" y="1"/>
            <a:ext cx="9144000" cy="6857999"/>
          </a:xfrm>
        </p:spPr>
        <p:txBody>
          <a:bodyPr/>
          <a:lstStyle/>
          <a:p>
            <a:r>
              <a:rPr lang="en-US" b="1" u="sng" dirty="0">
                <a:solidFill>
                  <a:schemeClr val="accent5">
                    <a:lumMod val="60000"/>
                    <a:lumOff val="40000"/>
                  </a:schemeClr>
                </a:solidFill>
              </a:rPr>
              <a:t>Conveyor belt: </a:t>
            </a:r>
            <a:r>
              <a:rPr lang="en-US" sz="2000" dirty="0"/>
              <a:t>A conveyor belt transports waste for automated sorting and disposal, enhancing efficiency in waste management.</a:t>
            </a:r>
          </a:p>
          <a:p>
            <a:endParaRPr lang="en-IN" b="1" u="sng" dirty="0">
              <a:solidFill>
                <a:schemeClr val="accent5">
                  <a:lumMod val="60000"/>
                  <a:lumOff val="40000"/>
                </a:schemeClr>
              </a:solidFill>
            </a:endParaRPr>
          </a:p>
          <a:p>
            <a:endParaRPr lang="en-IN" b="1" u="sng" dirty="0">
              <a:solidFill>
                <a:schemeClr val="accent5">
                  <a:lumMod val="60000"/>
                  <a:lumOff val="40000"/>
                </a:schemeClr>
              </a:solidFill>
            </a:endParaRPr>
          </a:p>
          <a:p>
            <a:endParaRPr lang="en-IN" b="1" u="sng" dirty="0">
              <a:solidFill>
                <a:schemeClr val="accent5">
                  <a:lumMod val="60000"/>
                  <a:lumOff val="40000"/>
                </a:schemeClr>
              </a:solidFill>
            </a:endParaRPr>
          </a:p>
          <a:p>
            <a:endParaRPr lang="en-IN" b="1" u="sng" dirty="0">
              <a:solidFill>
                <a:schemeClr val="accent5">
                  <a:lumMod val="60000"/>
                  <a:lumOff val="40000"/>
                </a:schemeClr>
              </a:solidFill>
            </a:endParaRPr>
          </a:p>
          <a:p>
            <a:endParaRPr lang="en-IN" b="1" u="sng" dirty="0">
              <a:solidFill>
                <a:schemeClr val="accent5">
                  <a:lumMod val="60000"/>
                  <a:lumOff val="40000"/>
                </a:schemeClr>
              </a:solidFill>
            </a:endParaRPr>
          </a:p>
          <a:p>
            <a:endParaRPr lang="en-IN" b="1" u="sng" dirty="0">
              <a:solidFill>
                <a:schemeClr val="accent5">
                  <a:lumMod val="60000"/>
                  <a:lumOff val="40000"/>
                </a:schemeClr>
              </a:solidFill>
            </a:endParaRPr>
          </a:p>
          <a:p>
            <a:pPr marL="36900" indent="0">
              <a:buNone/>
            </a:pPr>
            <a:endParaRPr lang="en-IN" b="1" u="sng" dirty="0">
              <a:solidFill>
                <a:schemeClr val="accent5">
                  <a:lumMod val="60000"/>
                  <a:lumOff val="40000"/>
                </a:schemeClr>
              </a:solidFill>
            </a:endParaRPr>
          </a:p>
        </p:txBody>
      </p:sp>
      <p:pic>
        <p:nvPicPr>
          <p:cNvPr id="3" name="Picture 2">
            <a:extLst>
              <a:ext uri="{FF2B5EF4-FFF2-40B4-BE49-F238E27FC236}">
                <a16:creationId xmlns:a16="http://schemas.microsoft.com/office/drawing/2014/main" id="{B64C46EA-89DA-49E4-A311-9FE9DCD17BFF}"/>
              </a:ext>
            </a:extLst>
          </p:cNvPr>
          <p:cNvPicPr>
            <a:picLocks noChangeAspect="1"/>
          </p:cNvPicPr>
          <p:nvPr/>
        </p:nvPicPr>
        <p:blipFill>
          <a:blip r:embed="rId2"/>
          <a:stretch>
            <a:fillRect/>
          </a:stretch>
        </p:blipFill>
        <p:spPr>
          <a:xfrm>
            <a:off x="1219200" y="835741"/>
            <a:ext cx="6705600" cy="2733368"/>
          </a:xfrm>
          <a:prstGeom prst="rect">
            <a:avLst/>
          </a:prstGeom>
        </p:spPr>
      </p:pic>
    </p:spTree>
    <p:extLst>
      <p:ext uri="{BB962C8B-B14F-4D97-AF65-F5344CB8AC3E}">
        <p14:creationId xmlns:p14="http://schemas.microsoft.com/office/powerpoint/2010/main" val="11090696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16EC4-D113-4DB9-76DD-83D078C235C8}"/>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FED098F-517E-4863-ECD4-96D96C775072}"/>
              </a:ext>
            </a:extLst>
          </p:cNvPr>
          <p:cNvSpPr>
            <a:spLocks noGrp="1"/>
          </p:cNvSpPr>
          <p:nvPr>
            <p:ph idx="1"/>
          </p:nvPr>
        </p:nvSpPr>
        <p:spPr>
          <a:xfrm>
            <a:off x="0" y="1"/>
            <a:ext cx="9144000" cy="6857999"/>
          </a:xfrm>
        </p:spPr>
        <p:txBody>
          <a:bodyPr/>
          <a:lstStyle/>
          <a:p>
            <a:r>
              <a:rPr lang="en-US" b="1" u="sng" dirty="0">
                <a:solidFill>
                  <a:schemeClr val="accent5">
                    <a:lumMod val="60000"/>
                    <a:lumOff val="40000"/>
                  </a:schemeClr>
                </a:solidFill>
              </a:rPr>
              <a:t>LCD 16x2 with I2C interface: </a:t>
            </a:r>
            <a:r>
              <a:rPr lang="en-US" sz="1800" dirty="0"/>
              <a:t>An LCD 16x2 with I2C in a waste management system displays waste levels, system status, and alerts, improving monitoring and user interaction with minimal wiring</a:t>
            </a:r>
            <a:r>
              <a:rPr lang="en-US" dirty="0"/>
              <a:t>.</a:t>
            </a:r>
          </a:p>
          <a:p>
            <a:endParaRPr lang="en-US" b="1" u="sng" dirty="0">
              <a:solidFill>
                <a:schemeClr val="accent5">
                  <a:lumMod val="60000"/>
                  <a:lumOff val="40000"/>
                </a:schemeClr>
              </a:solidFill>
            </a:endParaRPr>
          </a:p>
          <a:p>
            <a:endParaRPr lang="en-US" b="1" u="sng" dirty="0">
              <a:solidFill>
                <a:schemeClr val="accent5">
                  <a:lumMod val="60000"/>
                  <a:lumOff val="40000"/>
                </a:schemeClr>
              </a:solidFill>
            </a:endParaRPr>
          </a:p>
          <a:p>
            <a:endParaRPr lang="en-US" b="1" u="sng" dirty="0">
              <a:solidFill>
                <a:schemeClr val="accent5">
                  <a:lumMod val="60000"/>
                  <a:lumOff val="40000"/>
                </a:schemeClr>
              </a:solidFill>
            </a:endParaRPr>
          </a:p>
          <a:p>
            <a:endParaRPr lang="en-US" b="1" u="sng" dirty="0">
              <a:solidFill>
                <a:schemeClr val="accent5">
                  <a:lumMod val="60000"/>
                  <a:lumOff val="40000"/>
                </a:schemeClr>
              </a:solidFill>
            </a:endParaRPr>
          </a:p>
          <a:p>
            <a:endParaRPr lang="en-US" b="1" u="sng" dirty="0">
              <a:solidFill>
                <a:schemeClr val="accent5">
                  <a:lumMod val="60000"/>
                  <a:lumOff val="40000"/>
                </a:schemeClr>
              </a:solidFill>
            </a:endParaRPr>
          </a:p>
          <a:p>
            <a:endParaRPr lang="en-US" b="1" u="sng" dirty="0">
              <a:solidFill>
                <a:schemeClr val="accent5">
                  <a:lumMod val="60000"/>
                  <a:lumOff val="40000"/>
                </a:schemeClr>
              </a:solidFill>
            </a:endParaRPr>
          </a:p>
          <a:p>
            <a:r>
              <a:rPr lang="en-IN" b="1" u="sng" dirty="0">
                <a:solidFill>
                  <a:schemeClr val="accent5">
                    <a:lumMod val="60000"/>
                    <a:lumOff val="40000"/>
                  </a:schemeClr>
                </a:solidFill>
              </a:rPr>
              <a:t>Buzzer: </a:t>
            </a:r>
            <a:r>
              <a:rPr lang="en-US" sz="1800" dirty="0"/>
              <a:t>A buzzer and button in a waste management system provide alerts and user control, enabling notifications for waste levels and manual operations when needed.</a:t>
            </a:r>
            <a:endParaRPr lang="en-IN" sz="1800" u="sng" dirty="0">
              <a:solidFill>
                <a:schemeClr val="accent5">
                  <a:lumMod val="60000"/>
                  <a:lumOff val="40000"/>
                </a:schemeClr>
              </a:solidFill>
            </a:endParaRPr>
          </a:p>
          <a:p>
            <a:endParaRPr lang="en-IN" b="1" u="sng" dirty="0">
              <a:solidFill>
                <a:schemeClr val="accent5">
                  <a:lumMod val="60000"/>
                  <a:lumOff val="40000"/>
                </a:schemeClr>
              </a:solidFill>
            </a:endParaRPr>
          </a:p>
          <a:p>
            <a:endParaRPr lang="en-IN" b="1" u="sng" dirty="0">
              <a:solidFill>
                <a:schemeClr val="accent5">
                  <a:lumMod val="60000"/>
                  <a:lumOff val="40000"/>
                </a:schemeClr>
              </a:solidFill>
            </a:endParaRPr>
          </a:p>
          <a:p>
            <a:endParaRPr lang="en-IN" b="1" u="sng" dirty="0">
              <a:solidFill>
                <a:schemeClr val="accent5">
                  <a:lumMod val="60000"/>
                  <a:lumOff val="40000"/>
                </a:schemeClr>
              </a:solidFill>
            </a:endParaRPr>
          </a:p>
          <a:p>
            <a:endParaRPr lang="en-IN" b="1" u="sng" dirty="0">
              <a:solidFill>
                <a:schemeClr val="accent5">
                  <a:lumMod val="60000"/>
                  <a:lumOff val="40000"/>
                </a:schemeClr>
              </a:solidFill>
            </a:endParaRPr>
          </a:p>
          <a:p>
            <a:endParaRPr lang="en-IN" b="1" u="sng" dirty="0">
              <a:solidFill>
                <a:schemeClr val="accent5">
                  <a:lumMod val="60000"/>
                  <a:lumOff val="40000"/>
                </a:schemeClr>
              </a:solidFill>
            </a:endParaRPr>
          </a:p>
          <a:p>
            <a:endParaRPr lang="en-IN" b="1" u="sng" dirty="0">
              <a:solidFill>
                <a:schemeClr val="accent5">
                  <a:lumMod val="60000"/>
                  <a:lumOff val="40000"/>
                </a:schemeClr>
              </a:solidFill>
            </a:endParaRPr>
          </a:p>
          <a:p>
            <a:pPr marL="36900" indent="0">
              <a:buNone/>
            </a:pPr>
            <a:endParaRPr lang="en-IN" b="1" u="sng" dirty="0">
              <a:solidFill>
                <a:schemeClr val="accent5">
                  <a:lumMod val="60000"/>
                  <a:lumOff val="40000"/>
                </a:schemeClr>
              </a:solidFill>
            </a:endParaRPr>
          </a:p>
          <a:p>
            <a:pPr marL="36900" indent="0">
              <a:buNone/>
            </a:pPr>
            <a:endParaRPr lang="en-IN" b="1" u="sng" dirty="0">
              <a:solidFill>
                <a:schemeClr val="accent5">
                  <a:lumMod val="60000"/>
                  <a:lumOff val="40000"/>
                </a:schemeClr>
              </a:solidFill>
            </a:endParaRPr>
          </a:p>
        </p:txBody>
      </p:sp>
      <p:pic>
        <p:nvPicPr>
          <p:cNvPr id="4" name="Picture 3">
            <a:extLst>
              <a:ext uri="{FF2B5EF4-FFF2-40B4-BE49-F238E27FC236}">
                <a16:creationId xmlns:a16="http://schemas.microsoft.com/office/drawing/2014/main" id="{C70472AD-4AF8-F45C-3E58-5D513D6ACDD1}"/>
              </a:ext>
            </a:extLst>
          </p:cNvPr>
          <p:cNvPicPr>
            <a:picLocks noChangeAspect="1"/>
          </p:cNvPicPr>
          <p:nvPr/>
        </p:nvPicPr>
        <p:blipFill>
          <a:blip r:embed="rId2"/>
          <a:stretch>
            <a:fillRect/>
          </a:stretch>
        </p:blipFill>
        <p:spPr>
          <a:xfrm>
            <a:off x="2364657" y="970935"/>
            <a:ext cx="4414685" cy="2458065"/>
          </a:xfrm>
          <a:prstGeom prst="rect">
            <a:avLst/>
          </a:prstGeom>
        </p:spPr>
      </p:pic>
      <p:pic>
        <p:nvPicPr>
          <p:cNvPr id="7" name="Picture 6">
            <a:extLst>
              <a:ext uri="{FF2B5EF4-FFF2-40B4-BE49-F238E27FC236}">
                <a16:creationId xmlns:a16="http://schemas.microsoft.com/office/drawing/2014/main" id="{CA56B3C0-91B5-6D6A-03C6-BA39E60A6D0C}"/>
              </a:ext>
            </a:extLst>
          </p:cNvPr>
          <p:cNvPicPr>
            <a:picLocks noChangeAspect="1"/>
          </p:cNvPicPr>
          <p:nvPr/>
        </p:nvPicPr>
        <p:blipFill>
          <a:blip r:embed="rId3"/>
          <a:stretch>
            <a:fillRect/>
          </a:stretch>
        </p:blipFill>
        <p:spPr>
          <a:xfrm>
            <a:off x="3325850" y="4668000"/>
            <a:ext cx="2301866" cy="1421058"/>
          </a:xfrm>
          <a:prstGeom prst="rect">
            <a:avLst/>
          </a:prstGeom>
        </p:spPr>
      </p:pic>
    </p:spTree>
    <p:extLst>
      <p:ext uri="{BB962C8B-B14F-4D97-AF65-F5344CB8AC3E}">
        <p14:creationId xmlns:p14="http://schemas.microsoft.com/office/powerpoint/2010/main" val="32799233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C135E-FCAC-613C-7DE9-DF94CC2E48BE}"/>
              </a:ext>
            </a:extLst>
          </p:cNvPr>
          <p:cNvSpPr>
            <a:spLocks noGrp="1"/>
          </p:cNvSpPr>
          <p:nvPr>
            <p:ph type="title"/>
          </p:nvPr>
        </p:nvSpPr>
        <p:spPr/>
        <p:txBody>
          <a:bodyPr/>
          <a:lstStyle/>
          <a:p>
            <a:r>
              <a:rPr lang="en-IN" dirty="0">
                <a:solidFill>
                  <a:schemeClr val="accent1">
                    <a:lumMod val="60000"/>
                    <a:lumOff val="40000"/>
                  </a:schemeClr>
                </a:solidFill>
              </a:rPr>
              <a:t>System Work Flow</a:t>
            </a:r>
          </a:p>
        </p:txBody>
      </p:sp>
      <p:sp>
        <p:nvSpPr>
          <p:cNvPr id="3" name="Content Placeholder 2">
            <a:extLst>
              <a:ext uri="{FF2B5EF4-FFF2-40B4-BE49-F238E27FC236}">
                <a16:creationId xmlns:a16="http://schemas.microsoft.com/office/drawing/2014/main" id="{61127643-1F3F-1C74-C523-F256C8074DD7}"/>
              </a:ext>
            </a:extLst>
          </p:cNvPr>
          <p:cNvSpPr>
            <a:spLocks noGrp="1"/>
          </p:cNvSpPr>
          <p:nvPr>
            <p:ph idx="1"/>
          </p:nvPr>
        </p:nvSpPr>
        <p:spPr/>
        <p:txBody>
          <a:bodyPr>
            <a:noAutofit/>
          </a:bodyPr>
          <a:lstStyle/>
          <a:p>
            <a:pPr>
              <a:lnSpc>
                <a:spcPct val="150000"/>
              </a:lnSpc>
            </a:pPr>
            <a:r>
              <a:rPr lang="en-US" dirty="0"/>
              <a:t> Waste is placed on the conveyor belt.</a:t>
            </a:r>
          </a:p>
          <a:p>
            <a:pPr>
              <a:lnSpc>
                <a:spcPct val="150000"/>
              </a:lnSpc>
            </a:pPr>
            <a:r>
              <a:rPr lang="en-US" dirty="0"/>
              <a:t> Sensors analyze waste properties.</a:t>
            </a:r>
          </a:p>
          <a:p>
            <a:pPr>
              <a:lnSpc>
                <a:spcPct val="150000"/>
              </a:lnSpc>
            </a:pPr>
            <a:r>
              <a:rPr lang="en-US" dirty="0"/>
              <a:t> The microcontroller processes the data and categorizes waste.</a:t>
            </a:r>
          </a:p>
          <a:p>
            <a:pPr>
              <a:lnSpc>
                <a:spcPct val="150000"/>
              </a:lnSpc>
            </a:pPr>
            <a:r>
              <a:rPr lang="en-US" dirty="0"/>
              <a:t> Actuators(Servo motors) direct the waste to appropriate bins.</a:t>
            </a:r>
          </a:p>
          <a:p>
            <a:pPr>
              <a:lnSpc>
                <a:spcPct val="150000"/>
              </a:lnSpc>
            </a:pPr>
            <a:r>
              <a:rPr lang="en-US" dirty="0"/>
              <a:t> The mobile app provides real-time monitoring and control.</a:t>
            </a:r>
          </a:p>
          <a:p>
            <a:pPr>
              <a:lnSpc>
                <a:spcPct val="150000"/>
              </a:lnSpc>
            </a:pPr>
            <a:endParaRPr lang="en-IN" sz="2400" dirty="0"/>
          </a:p>
        </p:txBody>
      </p:sp>
    </p:spTree>
    <p:extLst>
      <p:ext uri="{BB962C8B-B14F-4D97-AF65-F5344CB8AC3E}">
        <p14:creationId xmlns:p14="http://schemas.microsoft.com/office/powerpoint/2010/main" val="14989391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32054-2FA4-EBA1-7D10-4C935189DF3B}"/>
              </a:ext>
            </a:extLst>
          </p:cNvPr>
          <p:cNvSpPr>
            <a:spLocks noGrp="1"/>
          </p:cNvSpPr>
          <p:nvPr>
            <p:ph type="title"/>
          </p:nvPr>
        </p:nvSpPr>
        <p:spPr>
          <a:xfrm>
            <a:off x="689339" y="-226142"/>
            <a:ext cx="7765322" cy="970450"/>
          </a:xfrm>
        </p:spPr>
        <p:txBody>
          <a:bodyPr/>
          <a:lstStyle/>
          <a:p>
            <a:r>
              <a:rPr lang="en-IN" dirty="0">
                <a:solidFill>
                  <a:schemeClr val="accent1">
                    <a:lumMod val="60000"/>
                    <a:lumOff val="40000"/>
                  </a:schemeClr>
                </a:solidFill>
              </a:rPr>
              <a:t>Flow Chart</a:t>
            </a:r>
          </a:p>
        </p:txBody>
      </p:sp>
      <p:pic>
        <p:nvPicPr>
          <p:cNvPr id="7" name="Content Placeholder 6">
            <a:extLst>
              <a:ext uri="{FF2B5EF4-FFF2-40B4-BE49-F238E27FC236}">
                <a16:creationId xmlns:a16="http://schemas.microsoft.com/office/drawing/2014/main" id="{443D2763-C26B-A124-9305-2BF22134C8C2}"/>
              </a:ext>
            </a:extLst>
          </p:cNvPr>
          <p:cNvPicPr>
            <a:picLocks noGrp="1" noChangeAspect="1"/>
          </p:cNvPicPr>
          <p:nvPr>
            <p:ph idx="1"/>
          </p:nvPr>
        </p:nvPicPr>
        <p:blipFill>
          <a:blip r:embed="rId2"/>
          <a:stretch>
            <a:fillRect/>
          </a:stretch>
        </p:blipFill>
        <p:spPr>
          <a:xfrm>
            <a:off x="1936867" y="623453"/>
            <a:ext cx="5120640" cy="6107569"/>
          </a:xfrm>
        </p:spPr>
      </p:pic>
    </p:spTree>
    <p:extLst>
      <p:ext uri="{BB962C8B-B14F-4D97-AF65-F5344CB8AC3E}">
        <p14:creationId xmlns:p14="http://schemas.microsoft.com/office/powerpoint/2010/main" val="21100043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D0A05-8A83-73D6-663D-0B3036C12FAF}"/>
              </a:ext>
            </a:extLst>
          </p:cNvPr>
          <p:cNvSpPr>
            <a:spLocks noGrp="1"/>
          </p:cNvSpPr>
          <p:nvPr>
            <p:ph type="title"/>
          </p:nvPr>
        </p:nvSpPr>
        <p:spPr/>
        <p:txBody>
          <a:bodyPr/>
          <a:lstStyle/>
          <a:p>
            <a:r>
              <a:rPr lang="en-IN" dirty="0">
                <a:solidFill>
                  <a:schemeClr val="accent1">
                    <a:lumMod val="60000"/>
                    <a:lumOff val="40000"/>
                  </a:schemeClr>
                </a:solidFill>
              </a:rPr>
              <a:t>System Prototype / 3D model </a:t>
            </a:r>
          </a:p>
        </p:txBody>
      </p:sp>
      <p:pic>
        <p:nvPicPr>
          <p:cNvPr id="5" name="Content Placeholder 4">
            <a:hlinkClick r:id="rId2"/>
            <a:extLst>
              <a:ext uri="{FF2B5EF4-FFF2-40B4-BE49-F238E27FC236}">
                <a16:creationId xmlns:a16="http://schemas.microsoft.com/office/drawing/2014/main" id="{DFF3F34C-D7F5-AA86-5FBB-4FB542771441}"/>
              </a:ext>
            </a:extLst>
          </p:cNvPr>
          <p:cNvPicPr>
            <a:picLocks noGrp="1" noChangeAspect="1"/>
          </p:cNvPicPr>
          <p:nvPr>
            <p:ph idx="1"/>
          </p:nvPr>
        </p:nvPicPr>
        <p:blipFill>
          <a:blip r:embed="rId3"/>
          <a:stretch>
            <a:fillRect/>
          </a:stretch>
        </p:blipFill>
        <p:spPr>
          <a:xfrm>
            <a:off x="1285472" y="1731963"/>
            <a:ext cx="6565119" cy="4059237"/>
          </a:xfrm>
        </p:spPr>
      </p:pic>
    </p:spTree>
    <p:extLst>
      <p:ext uri="{BB962C8B-B14F-4D97-AF65-F5344CB8AC3E}">
        <p14:creationId xmlns:p14="http://schemas.microsoft.com/office/powerpoint/2010/main" val="36643903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262A2-63AD-58BF-367D-2E287933D5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5037A2-1C7C-7DAA-4D86-CC4C5DD79D88}"/>
              </a:ext>
            </a:extLst>
          </p:cNvPr>
          <p:cNvSpPr>
            <a:spLocks noGrp="1"/>
          </p:cNvSpPr>
          <p:nvPr>
            <p:ph type="title"/>
          </p:nvPr>
        </p:nvSpPr>
        <p:spPr/>
        <p:txBody>
          <a:bodyPr/>
          <a:lstStyle/>
          <a:p>
            <a:r>
              <a:rPr lang="en-IN" dirty="0">
                <a:solidFill>
                  <a:schemeClr val="accent1">
                    <a:lumMod val="60000"/>
                    <a:lumOff val="40000"/>
                  </a:schemeClr>
                </a:solidFill>
              </a:rPr>
              <a:t>Results</a:t>
            </a:r>
          </a:p>
        </p:txBody>
      </p:sp>
      <p:sp>
        <p:nvSpPr>
          <p:cNvPr id="3" name="Content Placeholder 2">
            <a:extLst>
              <a:ext uri="{FF2B5EF4-FFF2-40B4-BE49-F238E27FC236}">
                <a16:creationId xmlns:a16="http://schemas.microsoft.com/office/drawing/2014/main" id="{7238D40F-2F92-1577-2C55-EF2C2571574A}"/>
              </a:ext>
            </a:extLst>
          </p:cNvPr>
          <p:cNvSpPr>
            <a:spLocks noGrp="1"/>
          </p:cNvSpPr>
          <p:nvPr>
            <p:ph idx="1"/>
          </p:nvPr>
        </p:nvSpPr>
        <p:spPr/>
        <p:txBody>
          <a:bodyPr>
            <a:normAutofit/>
          </a:bodyPr>
          <a:lstStyle/>
          <a:p>
            <a:pPr>
              <a:lnSpc>
                <a:spcPct val="150000"/>
              </a:lnSpc>
            </a:pPr>
            <a:r>
              <a:rPr lang="en-US" sz="2800" dirty="0"/>
              <a:t> Improved waste segregation accuracy.</a:t>
            </a:r>
          </a:p>
          <a:p>
            <a:pPr>
              <a:lnSpc>
                <a:spcPct val="150000"/>
              </a:lnSpc>
            </a:pPr>
            <a:r>
              <a:rPr lang="en-US" sz="2800" dirty="0"/>
              <a:t> Reduced manual effort in waste management.</a:t>
            </a:r>
          </a:p>
          <a:p>
            <a:pPr>
              <a:lnSpc>
                <a:spcPct val="150000"/>
              </a:lnSpc>
            </a:pPr>
            <a:r>
              <a:rPr lang="en-US" sz="2800" dirty="0"/>
              <a:t> Increased recycling efficiency.</a:t>
            </a:r>
          </a:p>
          <a:p>
            <a:pPr>
              <a:lnSpc>
                <a:spcPct val="150000"/>
              </a:lnSpc>
            </a:pPr>
            <a:r>
              <a:rPr lang="en-US" sz="2800" dirty="0"/>
              <a:t> Real-time data access for better decision-making.</a:t>
            </a:r>
          </a:p>
          <a:p>
            <a:pPr>
              <a:lnSpc>
                <a:spcPct val="150000"/>
              </a:lnSpc>
            </a:pPr>
            <a:endParaRPr lang="en-IN" sz="2800" dirty="0"/>
          </a:p>
        </p:txBody>
      </p:sp>
    </p:spTree>
    <p:extLst>
      <p:ext uri="{BB962C8B-B14F-4D97-AF65-F5344CB8AC3E}">
        <p14:creationId xmlns:p14="http://schemas.microsoft.com/office/powerpoint/2010/main" val="33967780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C1B8D-9309-CBF2-9F8D-33E940D7C18A}"/>
              </a:ext>
            </a:extLst>
          </p:cNvPr>
          <p:cNvSpPr>
            <a:spLocks noGrp="1"/>
          </p:cNvSpPr>
          <p:nvPr>
            <p:ph type="title"/>
          </p:nvPr>
        </p:nvSpPr>
        <p:spPr/>
        <p:txBody>
          <a:bodyPr/>
          <a:lstStyle/>
          <a:p>
            <a:r>
              <a:rPr lang="en-IN" dirty="0">
                <a:solidFill>
                  <a:schemeClr val="accent1">
                    <a:lumMod val="60000"/>
                    <a:lumOff val="40000"/>
                  </a:schemeClr>
                </a:solidFill>
              </a:rPr>
              <a:t>Future Scope</a:t>
            </a:r>
          </a:p>
        </p:txBody>
      </p:sp>
      <p:sp>
        <p:nvSpPr>
          <p:cNvPr id="3" name="Content Placeholder 2">
            <a:extLst>
              <a:ext uri="{FF2B5EF4-FFF2-40B4-BE49-F238E27FC236}">
                <a16:creationId xmlns:a16="http://schemas.microsoft.com/office/drawing/2014/main" id="{5FF50264-E5DC-06C1-2BE2-CE1629219AA8}"/>
              </a:ext>
            </a:extLst>
          </p:cNvPr>
          <p:cNvSpPr>
            <a:spLocks noGrp="1"/>
          </p:cNvSpPr>
          <p:nvPr>
            <p:ph idx="1"/>
          </p:nvPr>
        </p:nvSpPr>
        <p:spPr/>
        <p:txBody>
          <a:bodyPr>
            <a:normAutofit/>
          </a:bodyPr>
          <a:lstStyle/>
          <a:p>
            <a:pPr>
              <a:lnSpc>
                <a:spcPct val="150000"/>
              </a:lnSpc>
            </a:pPr>
            <a:r>
              <a:rPr lang="en-US" sz="2600" dirty="0"/>
              <a:t> </a:t>
            </a:r>
            <a:r>
              <a:rPr lang="en-US" sz="2400" dirty="0"/>
              <a:t>AI-based waste detection for enhanced classification.</a:t>
            </a:r>
          </a:p>
          <a:p>
            <a:pPr>
              <a:lnSpc>
                <a:spcPct val="150000"/>
              </a:lnSpc>
            </a:pPr>
            <a:r>
              <a:rPr lang="en-US" sz="2400" dirty="0"/>
              <a:t>Solar-powered system for energy efficiency.</a:t>
            </a:r>
          </a:p>
          <a:p>
            <a:pPr>
              <a:lnSpc>
                <a:spcPct val="150000"/>
              </a:lnSpc>
            </a:pPr>
            <a:r>
              <a:rPr lang="en-US" sz="2400" dirty="0"/>
              <a:t>Expansion to more waste categories.</a:t>
            </a:r>
          </a:p>
          <a:p>
            <a:pPr>
              <a:lnSpc>
                <a:spcPct val="150000"/>
              </a:lnSpc>
            </a:pPr>
            <a:r>
              <a:rPr lang="en-US" sz="2400" dirty="0"/>
              <a:t>Smart alerts for collection scheduling.</a:t>
            </a:r>
          </a:p>
          <a:p>
            <a:pPr>
              <a:lnSpc>
                <a:spcPct val="150000"/>
              </a:lnSpc>
            </a:pPr>
            <a:endParaRPr lang="en-IN" sz="2600" dirty="0"/>
          </a:p>
        </p:txBody>
      </p:sp>
    </p:spTree>
    <p:extLst>
      <p:ext uri="{BB962C8B-B14F-4D97-AF65-F5344CB8AC3E}">
        <p14:creationId xmlns:p14="http://schemas.microsoft.com/office/powerpoint/2010/main" val="5158574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chemeClr val="accent1">
                    <a:lumMod val="60000"/>
                    <a:lumOff val="40000"/>
                  </a:schemeClr>
                </a:solidFill>
              </a:rPr>
              <a:t>Conclusion</a:t>
            </a:r>
          </a:p>
        </p:txBody>
      </p:sp>
      <p:sp>
        <p:nvSpPr>
          <p:cNvPr id="3" name="Content Placeholder 2"/>
          <p:cNvSpPr>
            <a:spLocks noGrp="1"/>
          </p:cNvSpPr>
          <p:nvPr>
            <p:ph idx="1"/>
          </p:nvPr>
        </p:nvSpPr>
        <p:spPr/>
        <p:txBody>
          <a:bodyPr>
            <a:normAutofit/>
          </a:bodyPr>
          <a:lstStyle/>
          <a:p>
            <a:pPr>
              <a:lnSpc>
                <a:spcPct val="150000"/>
              </a:lnSpc>
            </a:pPr>
            <a:r>
              <a:rPr lang="en-US" sz="2800" dirty="0"/>
              <a:t>The Smart Waste Segregation System automates waste sorting efficiently, reduces human intervention, and supports sustainable waste management practices. Real-time monitoring enhances waste management efficiency.</a:t>
            </a:r>
          </a:p>
          <a:p>
            <a:pPr>
              <a:lnSpc>
                <a:spcPct val="150000"/>
              </a:lnSpc>
            </a:pPr>
            <a:endParaRPr sz="2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176038"/>
          </a:xfrm>
        </p:spPr>
        <p:txBody>
          <a:bodyPr>
            <a:normAutofit/>
          </a:bodyPr>
          <a:lstStyle/>
          <a:p>
            <a:r>
              <a:rPr sz="9600" b="1" dirty="0">
                <a:solidFill>
                  <a:schemeClr val="accent1">
                    <a:lumMod val="60000"/>
                    <a:lumOff val="40000"/>
                  </a:schemeClr>
                </a:solidFill>
              </a:rPr>
              <a:t>Thank 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TM04033929[[fn=Slate]]</Template>
  <TotalTime>3830</TotalTime>
  <Words>1396</Words>
  <Application>Microsoft Office PowerPoint</Application>
  <PresentationFormat>On-screen Show (4:3)</PresentationFormat>
  <Paragraphs>135</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Calisto MT</vt:lpstr>
      <vt:lpstr>Times New Roman Bold</vt:lpstr>
      <vt:lpstr>Wingdings 2</vt:lpstr>
      <vt:lpstr>Slate</vt:lpstr>
      <vt:lpstr>“Automated Smart Waste Segregation System with Live Monitoring and Intelligent Bin Alerts"</vt:lpstr>
      <vt:lpstr>Introduction </vt:lpstr>
      <vt:lpstr>Abstract</vt:lpstr>
      <vt:lpstr>Literature Review</vt:lpstr>
      <vt:lpstr>Literature Review</vt:lpstr>
      <vt:lpstr>Existing vs Proposed Model</vt:lpstr>
      <vt:lpstr>Objective</vt:lpstr>
      <vt:lpstr>Methodology</vt:lpstr>
      <vt:lpstr>Block Diagram</vt:lpstr>
      <vt:lpstr>Hardware and Software Used</vt:lpstr>
      <vt:lpstr>Hardware and Software Used</vt:lpstr>
      <vt:lpstr>Hardware Description</vt:lpstr>
      <vt:lpstr>PowerPoint Presentation</vt:lpstr>
      <vt:lpstr>PowerPoint Presentation</vt:lpstr>
      <vt:lpstr>PowerPoint Presentation</vt:lpstr>
      <vt:lpstr>PowerPoint Presentation</vt:lpstr>
      <vt:lpstr>PowerPoint Presentation</vt:lpstr>
      <vt:lpstr>PowerPoint Presentation</vt:lpstr>
      <vt:lpstr>System Work Flow</vt:lpstr>
      <vt:lpstr>Flow Chart</vt:lpstr>
      <vt:lpstr>System Prototype / 3D model </vt:lpstr>
      <vt:lpstr>Results</vt:lpstr>
      <vt:lpstr>Future Scope</vt:lpstr>
      <vt:lpstr>Conclusion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SAI JYOTHULA</dc:creator>
  <cp:keywords/>
  <dc:description>generated using python-pptx</dc:description>
  <cp:lastModifiedBy>Sai Jyothula</cp:lastModifiedBy>
  <cp:revision>33</cp:revision>
  <dcterms:created xsi:type="dcterms:W3CDTF">2013-01-27T09:14:16Z</dcterms:created>
  <dcterms:modified xsi:type="dcterms:W3CDTF">2025-04-10T16:36:45Z</dcterms:modified>
  <cp:category/>
</cp:coreProperties>
</file>